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Cooper Hewitt Bold" charset="1" panose="00000000000000000000"/>
      <p:regular r:id="rId21"/>
    </p:embeddedFont>
    <p:embeddedFont>
      <p:font typeface="Poppins" charset="1" panose="00000500000000000000"/>
      <p:regular r:id="rId22"/>
    </p:embeddedFont>
    <p:embeddedFont>
      <p:font typeface="Poppins Semi-Bold" charset="1" panose="00000700000000000000"/>
      <p:regular r:id="rId23"/>
    </p:embeddedFont>
    <p:embeddedFont>
      <p:font typeface="Canva Sans" charset="1" panose="020B0503030501040103"/>
      <p:regular r:id="rId24"/>
    </p:embeddedFont>
    <p:embeddedFont>
      <p:font typeface="Canva Sans Bold" charset="1" panose="020B0803030501040103"/>
      <p:regular r:id="rId25"/>
    </p:embeddedFont>
    <p:embeddedFont>
      <p:font typeface="Poppins Bold" charset="1" panose="00000800000000000000"/>
      <p:regular r:id="rId26"/>
    </p:embeddedFont>
    <p:embeddedFont>
      <p:font typeface="Poppins Medium" charset="1" panose="000006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png" Type="http://schemas.openxmlformats.org/officeDocument/2006/relationships/image"/><Relationship Id="rId12" Target="../media/image25.svg" Type="http://schemas.openxmlformats.org/officeDocument/2006/relationships/image"/><Relationship Id="rId13" Target="../media/image26.png" Type="http://schemas.openxmlformats.org/officeDocument/2006/relationships/image"/><Relationship Id="rId14" Target="../media/image27.png" Type="http://schemas.openxmlformats.org/officeDocument/2006/relationships/image"/><Relationship Id="rId15" Target="../media/image28.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2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svg" Type="http://schemas.openxmlformats.org/officeDocument/2006/relationships/image"/><Relationship Id="rId12" Target="../media/image36.png" Type="http://schemas.openxmlformats.org/officeDocument/2006/relationships/image"/><Relationship Id="rId13" Target="../media/image37.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38.pn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1.png" Type="http://schemas.openxmlformats.org/officeDocument/2006/relationships/image"/><Relationship Id="rId4" Target="../media/image42.png" Type="http://schemas.openxmlformats.org/officeDocument/2006/relationships/image"/><Relationship Id="rId5" Target="../media/image4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7.png" Type="http://schemas.openxmlformats.org/officeDocument/2006/relationships/image"/><Relationship Id="rId6" Target="../media/image48.png" Type="http://schemas.openxmlformats.org/officeDocument/2006/relationships/image"/><Relationship Id="rId7" Target="../media/image4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0.png" Type="http://schemas.openxmlformats.org/officeDocument/2006/relationships/image"/><Relationship Id="rId4" Target="../media/image51.png" Type="http://schemas.openxmlformats.org/officeDocument/2006/relationships/image"/><Relationship Id="rId5" Target="../media/image5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3.png" Type="http://schemas.openxmlformats.org/officeDocument/2006/relationships/image"/><Relationship Id="rId4" Target="../media/image54.png" Type="http://schemas.openxmlformats.org/officeDocument/2006/relationships/image"/><Relationship Id="rId5" Target="../media/image5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https://colab.research.google.com/drive/1lzdvF56X_HsASof26739RkiRc9ooqITN?usp=sharing" TargetMode="External" Type="http://schemas.openxmlformats.org/officeDocument/2006/relationships/hyperlink"/><Relationship Id="rId6" Target="https://drive.google.com/file/d/1rURvni0TsKArcEWQa6sLzbjyxyVf7yiH/view?usp=sharing"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2332554">
            <a:off x="-1812670" y="4079436"/>
            <a:ext cx="4278385" cy="10762758"/>
            <a:chOff x="0" y="0"/>
            <a:chExt cx="1126817" cy="2834636"/>
          </a:xfrm>
        </p:grpSpPr>
        <p:sp>
          <p:nvSpPr>
            <p:cNvPr name="Freeform 4" id="4"/>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5" id="5"/>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32554">
            <a:off x="17409372" y="-4700682"/>
            <a:ext cx="4278385" cy="10762758"/>
            <a:chOff x="0" y="0"/>
            <a:chExt cx="1126817" cy="2834636"/>
          </a:xfrm>
        </p:grpSpPr>
        <p:sp>
          <p:nvSpPr>
            <p:cNvPr name="Freeform 7" id="7"/>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8" id="8"/>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3404990" y="9681660"/>
            <a:ext cx="15489259" cy="1210681"/>
            <a:chOff x="0" y="0"/>
            <a:chExt cx="4079476" cy="318862"/>
          </a:xfrm>
        </p:grpSpPr>
        <p:sp>
          <p:nvSpPr>
            <p:cNvPr name="Freeform 10" id="10"/>
            <p:cNvSpPr/>
            <p:nvPr/>
          </p:nvSpPr>
          <p:spPr>
            <a:xfrm flipH="false" flipV="false" rot="0">
              <a:off x="0" y="0"/>
              <a:ext cx="4079476" cy="318862"/>
            </a:xfrm>
            <a:custGeom>
              <a:avLst/>
              <a:gdLst/>
              <a:ahLst/>
              <a:cxnLst/>
              <a:rect r="r" b="b" t="t" l="l"/>
              <a:pathLst>
                <a:path h="318862" w="4079476">
                  <a:moveTo>
                    <a:pt x="0" y="0"/>
                  </a:moveTo>
                  <a:lnTo>
                    <a:pt x="4079476" y="0"/>
                  </a:lnTo>
                  <a:lnTo>
                    <a:pt x="4079476" y="318862"/>
                  </a:lnTo>
                  <a:lnTo>
                    <a:pt x="0" y="318862"/>
                  </a:lnTo>
                  <a:close/>
                </a:path>
              </a:pathLst>
            </a:custGeom>
            <a:solidFill>
              <a:srgbClr val="5A90BF"/>
            </a:solidFill>
          </p:spPr>
        </p:sp>
        <p:sp>
          <p:nvSpPr>
            <p:cNvPr name="TextBox 11" id="11"/>
            <p:cNvSpPr txBox="true"/>
            <p:nvPr/>
          </p:nvSpPr>
          <p:spPr>
            <a:xfrm>
              <a:off x="0" y="-38100"/>
              <a:ext cx="4079476" cy="35696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028700" y="3147136"/>
            <a:ext cx="7246989" cy="951187"/>
            <a:chOff x="0" y="0"/>
            <a:chExt cx="1908672" cy="250518"/>
          </a:xfrm>
        </p:grpSpPr>
        <p:sp>
          <p:nvSpPr>
            <p:cNvPr name="Freeform 13" id="13"/>
            <p:cNvSpPr/>
            <p:nvPr/>
          </p:nvSpPr>
          <p:spPr>
            <a:xfrm flipH="false" flipV="false" rot="0">
              <a:off x="0" y="0"/>
              <a:ext cx="1908672" cy="250518"/>
            </a:xfrm>
            <a:custGeom>
              <a:avLst/>
              <a:gdLst/>
              <a:ahLst/>
              <a:cxnLst/>
              <a:rect r="r" b="b" t="t" l="l"/>
              <a:pathLst>
                <a:path h="250518" w="1908672">
                  <a:moveTo>
                    <a:pt x="67303" y="0"/>
                  </a:moveTo>
                  <a:lnTo>
                    <a:pt x="1841370" y="0"/>
                  </a:lnTo>
                  <a:cubicBezTo>
                    <a:pt x="1878540" y="0"/>
                    <a:pt x="1908672" y="30132"/>
                    <a:pt x="1908672" y="67303"/>
                  </a:cubicBezTo>
                  <a:lnTo>
                    <a:pt x="1908672" y="183216"/>
                  </a:lnTo>
                  <a:cubicBezTo>
                    <a:pt x="1908672" y="201066"/>
                    <a:pt x="1901581" y="218184"/>
                    <a:pt x="1888960" y="230806"/>
                  </a:cubicBezTo>
                  <a:cubicBezTo>
                    <a:pt x="1876338" y="243428"/>
                    <a:pt x="1859219" y="250518"/>
                    <a:pt x="1841370" y="250518"/>
                  </a:cubicBezTo>
                  <a:lnTo>
                    <a:pt x="67303" y="250518"/>
                  </a:lnTo>
                  <a:cubicBezTo>
                    <a:pt x="30132" y="250518"/>
                    <a:pt x="0" y="220386"/>
                    <a:pt x="0" y="183216"/>
                  </a:cubicBezTo>
                  <a:lnTo>
                    <a:pt x="0" y="67303"/>
                  </a:lnTo>
                  <a:cubicBezTo>
                    <a:pt x="0" y="30132"/>
                    <a:pt x="30132" y="0"/>
                    <a:pt x="67303" y="0"/>
                  </a:cubicBezTo>
                  <a:close/>
                </a:path>
              </a:pathLst>
            </a:custGeom>
            <a:solidFill>
              <a:srgbClr val="5A90BF"/>
            </a:solidFill>
          </p:spPr>
        </p:sp>
        <p:sp>
          <p:nvSpPr>
            <p:cNvPr name="TextBox 14" id="14"/>
            <p:cNvSpPr txBox="true"/>
            <p:nvPr/>
          </p:nvSpPr>
          <p:spPr>
            <a:xfrm>
              <a:off x="0" y="-38100"/>
              <a:ext cx="1908672" cy="288618"/>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2332554">
            <a:off x="3862736" y="5108136"/>
            <a:ext cx="1867173" cy="10762758"/>
            <a:chOff x="0" y="0"/>
            <a:chExt cx="491766" cy="2834636"/>
          </a:xfrm>
        </p:grpSpPr>
        <p:sp>
          <p:nvSpPr>
            <p:cNvPr name="Freeform 16" id="16"/>
            <p:cNvSpPr/>
            <p:nvPr/>
          </p:nvSpPr>
          <p:spPr>
            <a:xfrm flipH="false" flipV="false" rot="0">
              <a:off x="0" y="0"/>
              <a:ext cx="491766" cy="2834636"/>
            </a:xfrm>
            <a:custGeom>
              <a:avLst/>
              <a:gdLst/>
              <a:ahLst/>
              <a:cxnLst/>
              <a:rect r="r" b="b" t="t" l="l"/>
              <a:pathLst>
                <a:path h="2834636" w="491766">
                  <a:moveTo>
                    <a:pt x="245883" y="0"/>
                  </a:moveTo>
                  <a:lnTo>
                    <a:pt x="245883" y="0"/>
                  </a:lnTo>
                  <a:cubicBezTo>
                    <a:pt x="381680" y="0"/>
                    <a:pt x="491766" y="110086"/>
                    <a:pt x="491766" y="245883"/>
                  </a:cubicBezTo>
                  <a:lnTo>
                    <a:pt x="491766" y="2588753"/>
                  </a:lnTo>
                  <a:cubicBezTo>
                    <a:pt x="491766" y="2724550"/>
                    <a:pt x="381680" y="2834636"/>
                    <a:pt x="245883" y="2834636"/>
                  </a:cubicBezTo>
                  <a:lnTo>
                    <a:pt x="245883" y="2834636"/>
                  </a:lnTo>
                  <a:cubicBezTo>
                    <a:pt x="110086" y="2834636"/>
                    <a:pt x="0" y="2724550"/>
                    <a:pt x="0" y="2588753"/>
                  </a:cubicBezTo>
                  <a:lnTo>
                    <a:pt x="0" y="245883"/>
                  </a:lnTo>
                  <a:cubicBezTo>
                    <a:pt x="0" y="110086"/>
                    <a:pt x="110086" y="0"/>
                    <a:pt x="245883" y="0"/>
                  </a:cubicBezTo>
                  <a:close/>
                </a:path>
              </a:pathLst>
            </a:custGeom>
            <a:solidFill>
              <a:srgbClr val="91D7F1"/>
            </a:solidFill>
            <a:ln cap="rnd">
              <a:noFill/>
              <a:prstDash val="solid"/>
              <a:round/>
            </a:ln>
          </p:spPr>
        </p:sp>
        <p:sp>
          <p:nvSpPr>
            <p:cNvPr name="TextBox 17" id="17"/>
            <p:cNvSpPr txBox="true"/>
            <p:nvPr/>
          </p:nvSpPr>
          <p:spPr>
            <a:xfrm>
              <a:off x="0" y="-38100"/>
              <a:ext cx="491766" cy="2872736"/>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2332554">
            <a:off x="-1455348" y="-573562"/>
            <a:ext cx="712000" cy="7196626"/>
            <a:chOff x="0" y="0"/>
            <a:chExt cx="187523" cy="1895408"/>
          </a:xfrm>
        </p:grpSpPr>
        <p:sp>
          <p:nvSpPr>
            <p:cNvPr name="Freeform 19" id="19"/>
            <p:cNvSpPr/>
            <p:nvPr/>
          </p:nvSpPr>
          <p:spPr>
            <a:xfrm flipH="false" flipV="false" rot="0">
              <a:off x="0" y="0"/>
              <a:ext cx="187523" cy="1895408"/>
            </a:xfrm>
            <a:custGeom>
              <a:avLst/>
              <a:gdLst/>
              <a:ahLst/>
              <a:cxnLst/>
              <a:rect r="r" b="b" t="t" l="l"/>
              <a:pathLst>
                <a:path h="1895408" w="187523">
                  <a:moveTo>
                    <a:pt x="93761" y="0"/>
                  </a:moveTo>
                  <a:lnTo>
                    <a:pt x="93761" y="0"/>
                  </a:lnTo>
                  <a:cubicBezTo>
                    <a:pt x="145544" y="0"/>
                    <a:pt x="187523" y="41978"/>
                    <a:pt x="187523" y="93761"/>
                  </a:cubicBezTo>
                  <a:lnTo>
                    <a:pt x="187523" y="1801646"/>
                  </a:lnTo>
                  <a:cubicBezTo>
                    <a:pt x="187523" y="1853429"/>
                    <a:pt x="145544" y="1895408"/>
                    <a:pt x="93761" y="1895408"/>
                  </a:cubicBezTo>
                  <a:lnTo>
                    <a:pt x="93761" y="1895408"/>
                  </a:lnTo>
                  <a:cubicBezTo>
                    <a:pt x="41978" y="1895408"/>
                    <a:pt x="0" y="1853429"/>
                    <a:pt x="0" y="1801646"/>
                  </a:cubicBezTo>
                  <a:lnTo>
                    <a:pt x="0" y="93761"/>
                  </a:lnTo>
                  <a:cubicBezTo>
                    <a:pt x="0" y="41978"/>
                    <a:pt x="41978" y="0"/>
                    <a:pt x="93761" y="0"/>
                  </a:cubicBezTo>
                  <a:close/>
                </a:path>
              </a:pathLst>
            </a:custGeom>
            <a:solidFill>
              <a:srgbClr val="91D7F1"/>
            </a:solidFill>
            <a:ln cap="rnd">
              <a:noFill/>
              <a:prstDash val="solid"/>
              <a:round/>
            </a:ln>
          </p:spPr>
        </p:sp>
        <p:sp>
          <p:nvSpPr>
            <p:cNvPr name="TextBox 20" id="20"/>
            <p:cNvSpPr txBox="true"/>
            <p:nvPr/>
          </p:nvSpPr>
          <p:spPr>
            <a:xfrm>
              <a:off x="0" y="-38100"/>
              <a:ext cx="187523" cy="1933508"/>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2332554">
            <a:off x="14367721" y="-5523250"/>
            <a:ext cx="712000" cy="7196626"/>
            <a:chOff x="0" y="0"/>
            <a:chExt cx="187523" cy="1895408"/>
          </a:xfrm>
        </p:grpSpPr>
        <p:sp>
          <p:nvSpPr>
            <p:cNvPr name="Freeform 22" id="22"/>
            <p:cNvSpPr/>
            <p:nvPr/>
          </p:nvSpPr>
          <p:spPr>
            <a:xfrm flipH="false" flipV="false" rot="0">
              <a:off x="0" y="0"/>
              <a:ext cx="187523" cy="1895408"/>
            </a:xfrm>
            <a:custGeom>
              <a:avLst/>
              <a:gdLst/>
              <a:ahLst/>
              <a:cxnLst/>
              <a:rect r="r" b="b" t="t" l="l"/>
              <a:pathLst>
                <a:path h="1895408" w="187523">
                  <a:moveTo>
                    <a:pt x="93761" y="0"/>
                  </a:moveTo>
                  <a:lnTo>
                    <a:pt x="93761" y="0"/>
                  </a:lnTo>
                  <a:cubicBezTo>
                    <a:pt x="145544" y="0"/>
                    <a:pt x="187523" y="41978"/>
                    <a:pt x="187523" y="93761"/>
                  </a:cubicBezTo>
                  <a:lnTo>
                    <a:pt x="187523" y="1801646"/>
                  </a:lnTo>
                  <a:cubicBezTo>
                    <a:pt x="187523" y="1853429"/>
                    <a:pt x="145544" y="1895408"/>
                    <a:pt x="93761" y="1895408"/>
                  </a:cubicBezTo>
                  <a:lnTo>
                    <a:pt x="93761" y="1895408"/>
                  </a:lnTo>
                  <a:cubicBezTo>
                    <a:pt x="41978" y="1895408"/>
                    <a:pt x="0" y="1853429"/>
                    <a:pt x="0" y="1801646"/>
                  </a:cubicBezTo>
                  <a:lnTo>
                    <a:pt x="0" y="93761"/>
                  </a:lnTo>
                  <a:cubicBezTo>
                    <a:pt x="0" y="41978"/>
                    <a:pt x="41978" y="0"/>
                    <a:pt x="93761" y="0"/>
                  </a:cubicBezTo>
                  <a:close/>
                </a:path>
              </a:pathLst>
            </a:custGeom>
            <a:solidFill>
              <a:srgbClr val="91D7F1"/>
            </a:solidFill>
            <a:ln cap="rnd">
              <a:noFill/>
              <a:prstDash val="solid"/>
              <a:round/>
            </a:ln>
          </p:spPr>
        </p:sp>
        <p:sp>
          <p:nvSpPr>
            <p:cNvPr name="TextBox 23" id="23"/>
            <p:cNvSpPr txBox="true"/>
            <p:nvPr/>
          </p:nvSpPr>
          <p:spPr>
            <a:xfrm>
              <a:off x="0" y="-38100"/>
              <a:ext cx="187523" cy="1933508"/>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3723876" y="4499466"/>
            <a:ext cx="5420124" cy="676047"/>
            <a:chOff x="0" y="0"/>
            <a:chExt cx="1343952" cy="167630"/>
          </a:xfrm>
        </p:grpSpPr>
        <p:sp>
          <p:nvSpPr>
            <p:cNvPr name="Freeform 25" id="25"/>
            <p:cNvSpPr/>
            <p:nvPr/>
          </p:nvSpPr>
          <p:spPr>
            <a:xfrm flipH="false" flipV="false" rot="0">
              <a:off x="0" y="0"/>
              <a:ext cx="1343952" cy="167630"/>
            </a:xfrm>
            <a:custGeom>
              <a:avLst/>
              <a:gdLst/>
              <a:ahLst/>
              <a:cxnLst/>
              <a:rect r="r" b="b" t="t" l="l"/>
              <a:pathLst>
                <a:path h="167630" w="1343952">
                  <a:moveTo>
                    <a:pt x="83815" y="0"/>
                  </a:moveTo>
                  <a:lnTo>
                    <a:pt x="1260137" y="0"/>
                  </a:lnTo>
                  <a:cubicBezTo>
                    <a:pt x="1282366" y="0"/>
                    <a:pt x="1303685" y="8830"/>
                    <a:pt x="1319403" y="24549"/>
                  </a:cubicBezTo>
                  <a:cubicBezTo>
                    <a:pt x="1335121" y="40267"/>
                    <a:pt x="1343952" y="61586"/>
                    <a:pt x="1343952" y="83815"/>
                  </a:cubicBezTo>
                  <a:lnTo>
                    <a:pt x="1343952" y="83815"/>
                  </a:lnTo>
                  <a:cubicBezTo>
                    <a:pt x="1343952" y="106044"/>
                    <a:pt x="1335121" y="127363"/>
                    <a:pt x="1319403" y="143081"/>
                  </a:cubicBezTo>
                  <a:cubicBezTo>
                    <a:pt x="1303685" y="158799"/>
                    <a:pt x="1282366" y="167630"/>
                    <a:pt x="1260137" y="167630"/>
                  </a:cubicBezTo>
                  <a:lnTo>
                    <a:pt x="83815" y="167630"/>
                  </a:lnTo>
                  <a:cubicBezTo>
                    <a:pt x="61586" y="167630"/>
                    <a:pt x="40267" y="158799"/>
                    <a:pt x="24549" y="143081"/>
                  </a:cubicBezTo>
                  <a:cubicBezTo>
                    <a:pt x="8830" y="127363"/>
                    <a:pt x="0" y="106044"/>
                    <a:pt x="0" y="83815"/>
                  </a:cubicBezTo>
                  <a:lnTo>
                    <a:pt x="0" y="83815"/>
                  </a:lnTo>
                  <a:cubicBezTo>
                    <a:pt x="0" y="61586"/>
                    <a:pt x="8830" y="40267"/>
                    <a:pt x="24549" y="24549"/>
                  </a:cubicBezTo>
                  <a:cubicBezTo>
                    <a:pt x="40267" y="8830"/>
                    <a:pt x="61586" y="0"/>
                    <a:pt x="83815" y="0"/>
                  </a:cubicBezTo>
                  <a:close/>
                </a:path>
              </a:pathLst>
            </a:custGeom>
            <a:solidFill>
              <a:srgbClr val="91D7F1"/>
            </a:solidFill>
          </p:spPr>
        </p:sp>
        <p:sp>
          <p:nvSpPr>
            <p:cNvPr name="TextBox 26" id="26"/>
            <p:cNvSpPr txBox="true"/>
            <p:nvPr/>
          </p:nvSpPr>
          <p:spPr>
            <a:xfrm>
              <a:off x="0" y="-38100"/>
              <a:ext cx="1343952" cy="205730"/>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12988593" y="680697"/>
            <a:ext cx="2251784" cy="696006"/>
          </a:xfrm>
          <a:custGeom>
            <a:avLst/>
            <a:gdLst/>
            <a:ahLst/>
            <a:cxnLst/>
            <a:rect r="r" b="b" t="t" l="l"/>
            <a:pathLst>
              <a:path h="696006" w="2251784">
                <a:moveTo>
                  <a:pt x="0" y="0"/>
                </a:moveTo>
                <a:lnTo>
                  <a:pt x="2251784" y="0"/>
                </a:lnTo>
                <a:lnTo>
                  <a:pt x="2251784" y="696006"/>
                </a:lnTo>
                <a:lnTo>
                  <a:pt x="0" y="6960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799370" y="8750970"/>
            <a:ext cx="2251784" cy="696006"/>
          </a:xfrm>
          <a:custGeom>
            <a:avLst/>
            <a:gdLst/>
            <a:ahLst/>
            <a:cxnLst/>
            <a:rect r="r" b="b" t="t" l="l"/>
            <a:pathLst>
              <a:path h="696006" w="2251784">
                <a:moveTo>
                  <a:pt x="0" y="0"/>
                </a:moveTo>
                <a:lnTo>
                  <a:pt x="2251785" y="0"/>
                </a:lnTo>
                <a:lnTo>
                  <a:pt x="2251785" y="696006"/>
                </a:lnTo>
                <a:lnTo>
                  <a:pt x="0" y="6960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9" id="29"/>
          <p:cNvSpPr/>
          <p:nvPr/>
        </p:nvSpPr>
        <p:spPr>
          <a:xfrm flipH="false" flipV="false" rot="0">
            <a:off x="10391080" y="5120488"/>
            <a:ext cx="7446811" cy="4561171"/>
          </a:xfrm>
          <a:custGeom>
            <a:avLst/>
            <a:gdLst/>
            <a:ahLst/>
            <a:cxnLst/>
            <a:rect r="r" b="b" t="t" l="l"/>
            <a:pathLst>
              <a:path h="4561171" w="7446811">
                <a:moveTo>
                  <a:pt x="0" y="0"/>
                </a:moveTo>
                <a:lnTo>
                  <a:pt x="7446810" y="0"/>
                </a:lnTo>
                <a:lnTo>
                  <a:pt x="7446810" y="4561172"/>
                </a:lnTo>
                <a:lnTo>
                  <a:pt x="0" y="456117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0" id="30"/>
          <p:cNvSpPr txBox="true"/>
          <p:nvPr/>
        </p:nvSpPr>
        <p:spPr>
          <a:xfrm rot="0">
            <a:off x="1028700" y="1059129"/>
            <a:ext cx="10120920" cy="1549400"/>
          </a:xfrm>
          <a:prstGeom prst="rect">
            <a:avLst/>
          </a:prstGeom>
        </p:spPr>
        <p:txBody>
          <a:bodyPr anchor="t" rtlCol="false" tIns="0" lIns="0" bIns="0" rIns="0">
            <a:spAutoFit/>
          </a:bodyPr>
          <a:lstStyle/>
          <a:p>
            <a:pPr algn="l">
              <a:lnSpc>
                <a:spcPts val="5500"/>
              </a:lnSpc>
            </a:pPr>
            <a:r>
              <a:rPr lang="en-US" sz="5000" b="true">
                <a:solidFill>
                  <a:srgbClr val="000000"/>
                </a:solidFill>
                <a:latin typeface="Cooper Hewitt Bold"/>
                <a:ea typeface="Cooper Hewitt Bold"/>
                <a:cs typeface="Cooper Hewitt Bold"/>
                <a:sym typeface="Cooper Hewitt Bold"/>
              </a:rPr>
              <a:t>CUSTOMER SATISFACTION &amp;</a:t>
            </a:r>
          </a:p>
          <a:p>
            <a:pPr algn="l">
              <a:lnSpc>
                <a:spcPts val="5500"/>
              </a:lnSpc>
            </a:pPr>
            <a:r>
              <a:rPr lang="en-US" sz="5000" b="true">
                <a:solidFill>
                  <a:srgbClr val="000000"/>
                </a:solidFill>
                <a:latin typeface="Cooper Hewitt Bold"/>
                <a:ea typeface="Cooper Hewitt Bold"/>
                <a:cs typeface="Cooper Hewitt Bold"/>
                <a:sym typeface="Cooper Hewitt Bold"/>
              </a:rPr>
              <a:t>                         SENTIMENT ANALYSIS</a:t>
            </a:r>
          </a:p>
        </p:txBody>
      </p:sp>
      <p:sp>
        <p:nvSpPr>
          <p:cNvPr name="TextBox 31" id="31"/>
          <p:cNvSpPr txBox="true"/>
          <p:nvPr/>
        </p:nvSpPr>
        <p:spPr>
          <a:xfrm rot="0">
            <a:off x="1904559" y="3403654"/>
            <a:ext cx="5783527" cy="409575"/>
          </a:xfrm>
          <a:prstGeom prst="rect">
            <a:avLst/>
          </a:prstGeom>
        </p:spPr>
        <p:txBody>
          <a:bodyPr anchor="t" rtlCol="false" tIns="0" lIns="0" bIns="0" rIns="0">
            <a:spAutoFit/>
          </a:bodyPr>
          <a:lstStyle/>
          <a:p>
            <a:pPr algn="just">
              <a:lnSpc>
                <a:spcPts val="3000"/>
              </a:lnSpc>
            </a:pPr>
            <a:r>
              <a:rPr lang="en-US" sz="2500">
                <a:solidFill>
                  <a:srgbClr val="FFFFFF"/>
                </a:solidFill>
                <a:latin typeface="Poppins"/>
                <a:ea typeface="Poppins"/>
                <a:cs typeface="Poppins"/>
                <a:sym typeface="Poppins"/>
              </a:rPr>
              <a:t>Ticketing System Review Dataset</a:t>
            </a:r>
          </a:p>
        </p:txBody>
      </p:sp>
      <p:sp>
        <p:nvSpPr>
          <p:cNvPr name="TextBox 32" id="32"/>
          <p:cNvSpPr txBox="true"/>
          <p:nvPr/>
        </p:nvSpPr>
        <p:spPr>
          <a:xfrm rot="0">
            <a:off x="4037194" y="4616094"/>
            <a:ext cx="4793488" cy="423742"/>
          </a:xfrm>
          <a:prstGeom prst="rect">
            <a:avLst/>
          </a:prstGeom>
        </p:spPr>
        <p:txBody>
          <a:bodyPr anchor="t" rtlCol="false" tIns="0" lIns="0" bIns="0" rIns="0">
            <a:spAutoFit/>
          </a:bodyPr>
          <a:lstStyle/>
          <a:p>
            <a:pPr algn="ctr">
              <a:lnSpc>
                <a:spcPts val="3186"/>
              </a:lnSpc>
            </a:pPr>
            <a:r>
              <a:rPr lang="en-US" sz="2655" b="true">
                <a:solidFill>
                  <a:srgbClr val="000000"/>
                </a:solidFill>
                <a:latin typeface="Poppins Semi-Bold"/>
                <a:ea typeface="Poppins Semi-Bold"/>
                <a:cs typeface="Poppins Semi-Bold"/>
                <a:sym typeface="Poppins Semi-Bold"/>
              </a:rPr>
              <a:t>Iftanul Ibnu Rochman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3404990" y="9681660"/>
            <a:ext cx="15489259" cy="1210681"/>
            <a:chOff x="0" y="0"/>
            <a:chExt cx="4079476" cy="318862"/>
          </a:xfrm>
        </p:grpSpPr>
        <p:sp>
          <p:nvSpPr>
            <p:cNvPr name="Freeform 4" id="4"/>
            <p:cNvSpPr/>
            <p:nvPr/>
          </p:nvSpPr>
          <p:spPr>
            <a:xfrm flipH="false" flipV="false" rot="0">
              <a:off x="0" y="0"/>
              <a:ext cx="4079476" cy="318862"/>
            </a:xfrm>
            <a:custGeom>
              <a:avLst/>
              <a:gdLst/>
              <a:ahLst/>
              <a:cxnLst/>
              <a:rect r="r" b="b" t="t" l="l"/>
              <a:pathLst>
                <a:path h="318862" w="4079476">
                  <a:moveTo>
                    <a:pt x="0" y="0"/>
                  </a:moveTo>
                  <a:lnTo>
                    <a:pt x="4079476" y="0"/>
                  </a:lnTo>
                  <a:lnTo>
                    <a:pt x="4079476" y="318862"/>
                  </a:lnTo>
                  <a:lnTo>
                    <a:pt x="0" y="318862"/>
                  </a:lnTo>
                  <a:close/>
                </a:path>
              </a:pathLst>
            </a:custGeom>
            <a:solidFill>
              <a:srgbClr val="5A90BF"/>
            </a:solidFill>
          </p:spPr>
        </p:sp>
        <p:sp>
          <p:nvSpPr>
            <p:cNvPr name="TextBox 5" id="5"/>
            <p:cNvSpPr txBox="true"/>
            <p:nvPr/>
          </p:nvSpPr>
          <p:spPr>
            <a:xfrm>
              <a:off x="0" y="-38100"/>
              <a:ext cx="4079476" cy="3569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48101">
            <a:off x="-2941307" y="2523597"/>
            <a:ext cx="4278385" cy="10762758"/>
            <a:chOff x="0" y="0"/>
            <a:chExt cx="1126817" cy="2834636"/>
          </a:xfrm>
        </p:grpSpPr>
        <p:sp>
          <p:nvSpPr>
            <p:cNvPr name="Freeform 7" id="7"/>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8" id="8"/>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48101">
            <a:off x="2050242" y="5112800"/>
            <a:ext cx="1867173" cy="10762758"/>
            <a:chOff x="0" y="0"/>
            <a:chExt cx="491766" cy="2834636"/>
          </a:xfrm>
        </p:grpSpPr>
        <p:sp>
          <p:nvSpPr>
            <p:cNvPr name="Freeform 10" id="10"/>
            <p:cNvSpPr/>
            <p:nvPr/>
          </p:nvSpPr>
          <p:spPr>
            <a:xfrm flipH="false" flipV="false" rot="0">
              <a:off x="0" y="0"/>
              <a:ext cx="491766" cy="2834636"/>
            </a:xfrm>
            <a:custGeom>
              <a:avLst/>
              <a:gdLst/>
              <a:ahLst/>
              <a:cxnLst/>
              <a:rect r="r" b="b" t="t" l="l"/>
              <a:pathLst>
                <a:path h="2834636" w="491766">
                  <a:moveTo>
                    <a:pt x="245883" y="0"/>
                  </a:moveTo>
                  <a:lnTo>
                    <a:pt x="245883" y="0"/>
                  </a:lnTo>
                  <a:cubicBezTo>
                    <a:pt x="381680" y="0"/>
                    <a:pt x="491766" y="110086"/>
                    <a:pt x="491766" y="245883"/>
                  </a:cubicBezTo>
                  <a:lnTo>
                    <a:pt x="491766" y="2588753"/>
                  </a:lnTo>
                  <a:cubicBezTo>
                    <a:pt x="491766" y="2724550"/>
                    <a:pt x="381680" y="2834636"/>
                    <a:pt x="245883" y="2834636"/>
                  </a:cubicBezTo>
                  <a:lnTo>
                    <a:pt x="245883" y="2834636"/>
                  </a:lnTo>
                  <a:cubicBezTo>
                    <a:pt x="110086" y="2834636"/>
                    <a:pt x="0" y="2724550"/>
                    <a:pt x="0" y="2588753"/>
                  </a:cubicBezTo>
                  <a:lnTo>
                    <a:pt x="0" y="245883"/>
                  </a:lnTo>
                  <a:cubicBezTo>
                    <a:pt x="0" y="110086"/>
                    <a:pt x="110086" y="0"/>
                    <a:pt x="245883" y="0"/>
                  </a:cubicBezTo>
                  <a:close/>
                </a:path>
              </a:pathLst>
            </a:custGeom>
            <a:solidFill>
              <a:srgbClr val="91D7F1"/>
            </a:solidFill>
            <a:ln cap="rnd">
              <a:noFill/>
              <a:prstDash val="solid"/>
              <a:round/>
            </a:ln>
          </p:spPr>
        </p:sp>
        <p:sp>
          <p:nvSpPr>
            <p:cNvPr name="TextBox 11" id="11"/>
            <p:cNvSpPr txBox="true"/>
            <p:nvPr/>
          </p:nvSpPr>
          <p:spPr>
            <a:xfrm>
              <a:off x="0" y="-38100"/>
              <a:ext cx="491766" cy="287273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048101">
            <a:off x="-136450" y="-2205804"/>
            <a:ext cx="712000" cy="7196626"/>
            <a:chOff x="0" y="0"/>
            <a:chExt cx="187523" cy="1895408"/>
          </a:xfrm>
        </p:grpSpPr>
        <p:sp>
          <p:nvSpPr>
            <p:cNvPr name="Freeform 13" id="13"/>
            <p:cNvSpPr/>
            <p:nvPr/>
          </p:nvSpPr>
          <p:spPr>
            <a:xfrm flipH="false" flipV="false" rot="0">
              <a:off x="0" y="0"/>
              <a:ext cx="187523" cy="1895408"/>
            </a:xfrm>
            <a:custGeom>
              <a:avLst/>
              <a:gdLst/>
              <a:ahLst/>
              <a:cxnLst/>
              <a:rect r="r" b="b" t="t" l="l"/>
              <a:pathLst>
                <a:path h="1895408" w="187523">
                  <a:moveTo>
                    <a:pt x="93761" y="0"/>
                  </a:moveTo>
                  <a:lnTo>
                    <a:pt x="93761" y="0"/>
                  </a:lnTo>
                  <a:cubicBezTo>
                    <a:pt x="145544" y="0"/>
                    <a:pt x="187523" y="41978"/>
                    <a:pt x="187523" y="93761"/>
                  </a:cubicBezTo>
                  <a:lnTo>
                    <a:pt x="187523" y="1801646"/>
                  </a:lnTo>
                  <a:cubicBezTo>
                    <a:pt x="187523" y="1853429"/>
                    <a:pt x="145544" y="1895408"/>
                    <a:pt x="93761" y="1895408"/>
                  </a:cubicBezTo>
                  <a:lnTo>
                    <a:pt x="93761" y="1895408"/>
                  </a:lnTo>
                  <a:cubicBezTo>
                    <a:pt x="41978" y="1895408"/>
                    <a:pt x="0" y="1853429"/>
                    <a:pt x="0" y="1801646"/>
                  </a:cubicBezTo>
                  <a:lnTo>
                    <a:pt x="0" y="93761"/>
                  </a:lnTo>
                  <a:cubicBezTo>
                    <a:pt x="0" y="41978"/>
                    <a:pt x="41978" y="0"/>
                    <a:pt x="93761" y="0"/>
                  </a:cubicBezTo>
                  <a:close/>
                </a:path>
              </a:pathLst>
            </a:custGeom>
            <a:solidFill>
              <a:srgbClr val="91D7F1"/>
            </a:solidFill>
            <a:ln cap="rnd">
              <a:noFill/>
              <a:prstDash val="solid"/>
              <a:round/>
            </a:ln>
          </p:spPr>
        </p:sp>
        <p:sp>
          <p:nvSpPr>
            <p:cNvPr name="TextBox 14" id="14"/>
            <p:cNvSpPr txBox="true"/>
            <p:nvPr/>
          </p:nvSpPr>
          <p:spPr>
            <a:xfrm>
              <a:off x="0" y="-38100"/>
              <a:ext cx="187523" cy="1933508"/>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4163418" y="1500204"/>
            <a:ext cx="2251784" cy="696006"/>
          </a:xfrm>
          <a:custGeom>
            <a:avLst/>
            <a:gdLst/>
            <a:ahLst/>
            <a:cxnLst/>
            <a:rect r="r" b="b" t="t" l="l"/>
            <a:pathLst>
              <a:path h="696006" w="2251784">
                <a:moveTo>
                  <a:pt x="0" y="0"/>
                </a:moveTo>
                <a:lnTo>
                  <a:pt x="2251785" y="0"/>
                </a:lnTo>
                <a:lnTo>
                  <a:pt x="2251785" y="696006"/>
                </a:lnTo>
                <a:lnTo>
                  <a:pt x="0" y="6960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13919090" y="5880708"/>
            <a:ext cx="4368910" cy="3800952"/>
          </a:xfrm>
          <a:custGeom>
            <a:avLst/>
            <a:gdLst/>
            <a:ahLst/>
            <a:cxnLst/>
            <a:rect r="r" b="b" t="t" l="l"/>
            <a:pathLst>
              <a:path h="3800952" w="4368910">
                <a:moveTo>
                  <a:pt x="0" y="0"/>
                </a:moveTo>
                <a:lnTo>
                  <a:pt x="4368910" y="0"/>
                </a:lnTo>
                <a:lnTo>
                  <a:pt x="4368910" y="3800952"/>
                </a:lnTo>
                <a:lnTo>
                  <a:pt x="0" y="38009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6773514" y="1404954"/>
            <a:ext cx="4740973" cy="854075"/>
          </a:xfrm>
          <a:prstGeom prst="rect">
            <a:avLst/>
          </a:prstGeom>
        </p:spPr>
        <p:txBody>
          <a:bodyPr anchor="t" rtlCol="false" tIns="0" lIns="0" bIns="0" rIns="0">
            <a:spAutoFit/>
          </a:bodyPr>
          <a:lstStyle/>
          <a:p>
            <a:pPr algn="l">
              <a:lnSpc>
                <a:spcPts val="5500"/>
              </a:lnSpc>
            </a:pPr>
            <a:r>
              <a:rPr lang="en-US" sz="5000" b="true">
                <a:solidFill>
                  <a:srgbClr val="000000"/>
                </a:solidFill>
                <a:latin typeface="Cooper Hewitt Bold"/>
                <a:ea typeface="Cooper Hewitt Bold"/>
                <a:cs typeface="Cooper Hewitt Bold"/>
                <a:sym typeface="Cooper Hewitt Bold"/>
              </a:rPr>
              <a:t>INTRODUCTION</a:t>
            </a:r>
          </a:p>
        </p:txBody>
      </p:sp>
      <p:sp>
        <p:nvSpPr>
          <p:cNvPr name="TextBox 18" id="18"/>
          <p:cNvSpPr txBox="true"/>
          <p:nvPr/>
        </p:nvSpPr>
        <p:spPr>
          <a:xfrm rot="0">
            <a:off x="3404990" y="3204183"/>
            <a:ext cx="12569471" cy="2676525"/>
          </a:xfrm>
          <a:prstGeom prst="rect">
            <a:avLst/>
          </a:prstGeom>
        </p:spPr>
        <p:txBody>
          <a:bodyPr anchor="t" rtlCol="false" tIns="0" lIns="0" bIns="0" rIns="0">
            <a:spAutoFit/>
          </a:bodyPr>
          <a:lstStyle/>
          <a:p>
            <a:pPr algn="just">
              <a:lnSpc>
                <a:spcPts val="4200"/>
              </a:lnSpc>
              <a:spcBef>
                <a:spcPct val="0"/>
              </a:spcBef>
            </a:pPr>
            <a:r>
              <a:rPr lang="en-US" sz="3000">
                <a:solidFill>
                  <a:srgbClr val="000000"/>
                </a:solidFill>
                <a:latin typeface="Poppins"/>
                <a:ea typeface="Poppins"/>
                <a:cs typeface="Poppins"/>
                <a:sym typeface="Poppins"/>
              </a:rPr>
              <a:t>The purpose of this analysis is to measure customer satisfaction with the ticketing system using CSAT, CES, and NPS metrics, while identifying key factors that influence user experience. In addition, this analysis examines customer sentiment through text reviews to gain deeper insights into how users perceive the system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1048101">
            <a:off x="-3801344" y="2649260"/>
            <a:ext cx="4278385" cy="10762758"/>
            <a:chOff x="0" y="0"/>
            <a:chExt cx="1126817" cy="2834636"/>
          </a:xfrm>
        </p:grpSpPr>
        <p:sp>
          <p:nvSpPr>
            <p:cNvPr name="Freeform 4" id="4"/>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5" id="5"/>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48101">
            <a:off x="16788938" y="-4708531"/>
            <a:ext cx="4278385" cy="10762758"/>
            <a:chOff x="0" y="0"/>
            <a:chExt cx="1126817" cy="2834636"/>
          </a:xfrm>
        </p:grpSpPr>
        <p:sp>
          <p:nvSpPr>
            <p:cNvPr name="Freeform 7" id="7"/>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8" id="8"/>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48101">
            <a:off x="15862995" y="-2056816"/>
            <a:ext cx="712000" cy="7196626"/>
            <a:chOff x="0" y="0"/>
            <a:chExt cx="187523" cy="1895408"/>
          </a:xfrm>
        </p:grpSpPr>
        <p:sp>
          <p:nvSpPr>
            <p:cNvPr name="Freeform 10" id="10"/>
            <p:cNvSpPr/>
            <p:nvPr/>
          </p:nvSpPr>
          <p:spPr>
            <a:xfrm flipH="false" flipV="false" rot="0">
              <a:off x="0" y="0"/>
              <a:ext cx="187523" cy="1895408"/>
            </a:xfrm>
            <a:custGeom>
              <a:avLst/>
              <a:gdLst/>
              <a:ahLst/>
              <a:cxnLst/>
              <a:rect r="r" b="b" t="t" l="l"/>
              <a:pathLst>
                <a:path h="1895408" w="187523">
                  <a:moveTo>
                    <a:pt x="93761" y="0"/>
                  </a:moveTo>
                  <a:lnTo>
                    <a:pt x="93761" y="0"/>
                  </a:lnTo>
                  <a:cubicBezTo>
                    <a:pt x="145544" y="0"/>
                    <a:pt x="187523" y="41978"/>
                    <a:pt x="187523" y="93761"/>
                  </a:cubicBezTo>
                  <a:lnTo>
                    <a:pt x="187523" y="1801646"/>
                  </a:lnTo>
                  <a:cubicBezTo>
                    <a:pt x="187523" y="1853429"/>
                    <a:pt x="145544" y="1895408"/>
                    <a:pt x="93761" y="1895408"/>
                  </a:cubicBezTo>
                  <a:lnTo>
                    <a:pt x="93761" y="1895408"/>
                  </a:lnTo>
                  <a:cubicBezTo>
                    <a:pt x="41978" y="1895408"/>
                    <a:pt x="0" y="1853429"/>
                    <a:pt x="0" y="1801646"/>
                  </a:cubicBezTo>
                  <a:lnTo>
                    <a:pt x="0" y="93761"/>
                  </a:lnTo>
                  <a:cubicBezTo>
                    <a:pt x="0" y="41978"/>
                    <a:pt x="41978" y="0"/>
                    <a:pt x="93761" y="0"/>
                  </a:cubicBezTo>
                  <a:close/>
                </a:path>
              </a:pathLst>
            </a:custGeom>
            <a:solidFill>
              <a:srgbClr val="91D7F1"/>
            </a:solidFill>
            <a:ln cap="rnd">
              <a:noFill/>
              <a:prstDash val="solid"/>
              <a:round/>
            </a:ln>
          </p:spPr>
        </p:sp>
        <p:sp>
          <p:nvSpPr>
            <p:cNvPr name="TextBox 11" id="11"/>
            <p:cNvSpPr txBox="true"/>
            <p:nvPr/>
          </p:nvSpPr>
          <p:spPr>
            <a:xfrm>
              <a:off x="0" y="-38100"/>
              <a:ext cx="187523" cy="1933508"/>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8858501" y="2730282"/>
            <a:ext cx="1620705" cy="500945"/>
          </a:xfrm>
          <a:custGeom>
            <a:avLst/>
            <a:gdLst/>
            <a:ahLst/>
            <a:cxnLst/>
            <a:rect r="r" b="b" t="t" l="l"/>
            <a:pathLst>
              <a:path h="500945" w="1620705">
                <a:moveTo>
                  <a:pt x="0" y="0"/>
                </a:moveTo>
                <a:lnTo>
                  <a:pt x="1620704" y="0"/>
                </a:lnTo>
                <a:lnTo>
                  <a:pt x="1620704" y="500945"/>
                </a:lnTo>
                <a:lnTo>
                  <a:pt x="0" y="500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1157415" y="0"/>
            <a:ext cx="3641860" cy="3641860"/>
          </a:xfrm>
          <a:custGeom>
            <a:avLst/>
            <a:gdLst/>
            <a:ahLst/>
            <a:cxnLst/>
            <a:rect r="r" b="b" t="t" l="l"/>
            <a:pathLst>
              <a:path h="3641860" w="3641860">
                <a:moveTo>
                  <a:pt x="0" y="0"/>
                </a:moveTo>
                <a:lnTo>
                  <a:pt x="3641860" y="0"/>
                </a:lnTo>
                <a:lnTo>
                  <a:pt x="3641860" y="3641860"/>
                </a:lnTo>
                <a:lnTo>
                  <a:pt x="0" y="36418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450287" y="5080730"/>
            <a:ext cx="335407" cy="450968"/>
          </a:xfrm>
          <a:custGeom>
            <a:avLst/>
            <a:gdLst/>
            <a:ahLst/>
            <a:cxnLst/>
            <a:rect r="r" b="b" t="t" l="l"/>
            <a:pathLst>
              <a:path h="450968" w="335407">
                <a:moveTo>
                  <a:pt x="0" y="0"/>
                </a:moveTo>
                <a:lnTo>
                  <a:pt x="335408" y="0"/>
                </a:lnTo>
                <a:lnTo>
                  <a:pt x="335408" y="450968"/>
                </a:lnTo>
                <a:lnTo>
                  <a:pt x="0" y="45096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7997677" y="5639746"/>
            <a:ext cx="335971" cy="450968"/>
          </a:xfrm>
          <a:custGeom>
            <a:avLst/>
            <a:gdLst/>
            <a:ahLst/>
            <a:cxnLst/>
            <a:rect r="r" b="b" t="t" l="l"/>
            <a:pathLst>
              <a:path h="450968" w="335971">
                <a:moveTo>
                  <a:pt x="0" y="0"/>
                </a:moveTo>
                <a:lnTo>
                  <a:pt x="335971" y="0"/>
                </a:lnTo>
                <a:lnTo>
                  <a:pt x="335971" y="450968"/>
                </a:lnTo>
                <a:lnTo>
                  <a:pt x="0" y="45096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6" id="16"/>
          <p:cNvSpPr txBox="true"/>
          <p:nvPr/>
        </p:nvSpPr>
        <p:spPr>
          <a:xfrm rot="0">
            <a:off x="1993764" y="1446247"/>
            <a:ext cx="6864736" cy="854075"/>
          </a:xfrm>
          <a:prstGeom prst="rect">
            <a:avLst/>
          </a:prstGeom>
        </p:spPr>
        <p:txBody>
          <a:bodyPr anchor="t" rtlCol="false" tIns="0" lIns="0" bIns="0" rIns="0">
            <a:spAutoFit/>
          </a:bodyPr>
          <a:lstStyle/>
          <a:p>
            <a:pPr algn="l">
              <a:lnSpc>
                <a:spcPts val="5500"/>
              </a:lnSpc>
            </a:pPr>
            <a:r>
              <a:rPr lang="en-US" sz="5000" b="true">
                <a:solidFill>
                  <a:srgbClr val="000000"/>
                </a:solidFill>
                <a:latin typeface="Cooper Hewitt Bold"/>
                <a:ea typeface="Cooper Hewitt Bold"/>
                <a:cs typeface="Cooper Hewitt Bold"/>
                <a:sym typeface="Cooper Hewitt Bold"/>
              </a:rPr>
              <a:t>DATA UNDERSTANDING</a:t>
            </a:r>
          </a:p>
        </p:txBody>
      </p:sp>
      <p:sp>
        <p:nvSpPr>
          <p:cNvPr name="TextBox 17" id="17"/>
          <p:cNvSpPr txBox="true"/>
          <p:nvPr/>
        </p:nvSpPr>
        <p:spPr>
          <a:xfrm rot="0">
            <a:off x="1028700" y="3174077"/>
            <a:ext cx="7304948" cy="1581150"/>
          </a:xfrm>
          <a:prstGeom prst="rect">
            <a:avLst/>
          </a:prstGeom>
        </p:spPr>
        <p:txBody>
          <a:bodyPr anchor="t" rtlCol="false" tIns="0" lIns="0" bIns="0" rIns="0">
            <a:spAutoFit/>
          </a:bodyPr>
          <a:lstStyle/>
          <a:p>
            <a:pPr algn="just">
              <a:lnSpc>
                <a:spcPts val="4200"/>
              </a:lnSpc>
              <a:spcBef>
                <a:spcPct val="0"/>
              </a:spcBef>
            </a:pPr>
            <a:r>
              <a:rPr lang="en-US" sz="3000">
                <a:solidFill>
                  <a:srgbClr val="000000"/>
                </a:solidFill>
                <a:latin typeface="Canva Sans"/>
                <a:ea typeface="Canva Sans"/>
                <a:cs typeface="Canva Sans"/>
                <a:sym typeface="Canva Sans"/>
              </a:rPr>
              <a:t>The initial dataset received contained 1,462 response rows from various ticket system users. These included:</a:t>
            </a:r>
          </a:p>
        </p:txBody>
      </p:sp>
      <p:sp>
        <p:nvSpPr>
          <p:cNvPr name="TextBox 18" id="18"/>
          <p:cNvSpPr txBox="true"/>
          <p:nvPr/>
        </p:nvSpPr>
        <p:spPr>
          <a:xfrm rot="0">
            <a:off x="1066882" y="5095875"/>
            <a:ext cx="6498580" cy="2174875"/>
          </a:xfrm>
          <a:prstGeom prst="rect">
            <a:avLst/>
          </a:prstGeom>
        </p:spPr>
        <p:txBody>
          <a:bodyPr anchor="t" rtlCol="false" tIns="0" lIns="0" bIns="0" rIns="0">
            <a:spAutoFit/>
          </a:bodyPr>
          <a:lstStyle/>
          <a:p>
            <a:pPr algn="just">
              <a:lnSpc>
                <a:spcPts val="3499"/>
              </a:lnSpc>
              <a:spcBef>
                <a:spcPct val="0"/>
              </a:spcBef>
            </a:pPr>
            <a:r>
              <a:rPr lang="en-US" b="true" sz="2499">
                <a:solidFill>
                  <a:srgbClr val="000000"/>
                </a:solidFill>
                <a:latin typeface="Canva Sans Bold"/>
                <a:ea typeface="Canva Sans Bold"/>
                <a:cs typeface="Canva Sans Bold"/>
                <a:sym typeface="Canva Sans Bold"/>
              </a:rPr>
              <a:t>General Information </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id survey: identifier for each survey</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date of survey: date of survey taken</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ticket system: The name of the ticket system being reviewed (e.g. Zoho Desk)</a:t>
            </a:r>
          </a:p>
        </p:txBody>
      </p:sp>
      <p:sp>
        <p:nvSpPr>
          <p:cNvPr name="TextBox 19" id="19"/>
          <p:cNvSpPr txBox="true"/>
          <p:nvPr/>
        </p:nvSpPr>
        <p:spPr>
          <a:xfrm rot="0">
            <a:off x="8530208" y="5592121"/>
            <a:ext cx="9564684" cy="4365625"/>
          </a:xfrm>
          <a:prstGeom prst="rect">
            <a:avLst/>
          </a:prstGeom>
        </p:spPr>
        <p:txBody>
          <a:bodyPr anchor="t" rtlCol="false" tIns="0" lIns="0" bIns="0" rIns="0">
            <a:spAutoFit/>
          </a:bodyPr>
          <a:lstStyle/>
          <a:p>
            <a:pPr algn="just">
              <a:lnSpc>
                <a:spcPts val="3499"/>
              </a:lnSpc>
              <a:spcBef>
                <a:spcPct val="0"/>
              </a:spcBef>
            </a:pPr>
            <a:r>
              <a:rPr lang="en-US" b="true" sz="2499">
                <a:solidFill>
                  <a:srgbClr val="000000"/>
                </a:solidFill>
                <a:latin typeface="Canva Sans Bold"/>
                <a:ea typeface="Canva Sans Bold"/>
                <a:cs typeface="Canva Sans Bold"/>
                <a:sym typeface="Canva Sans Bold"/>
              </a:rPr>
              <a:t>Survey Questions</a:t>
            </a:r>
          </a:p>
          <a:p>
            <a:pPr algn="just" marL="539749" indent="-269875" lvl="1">
              <a:lnSpc>
                <a:spcPts val="3499"/>
              </a:lnSpc>
              <a:spcBef>
                <a:spcPct val="0"/>
              </a:spcBef>
              <a:buFont typeface="Arial"/>
              <a:buChar char="•"/>
            </a:pPr>
            <a:r>
              <a:rPr lang="en-US" sz="2499">
                <a:solidFill>
                  <a:srgbClr val="000000"/>
                </a:solidFill>
                <a:latin typeface="Canva Sans"/>
                <a:ea typeface="Canva Sans"/>
                <a:cs typeface="Canva Sans"/>
                <a:sym typeface="Canva Sans"/>
              </a:rPr>
              <a:t>overall rating: Reviewer’s overall satisfaction (1–5)</a:t>
            </a:r>
          </a:p>
          <a:p>
            <a:pPr algn="just" marL="539749" indent="-269875" lvl="1">
              <a:lnSpc>
                <a:spcPts val="3499"/>
              </a:lnSpc>
              <a:spcBef>
                <a:spcPct val="0"/>
              </a:spcBef>
              <a:buFont typeface="Arial"/>
              <a:buChar char="•"/>
            </a:pPr>
            <a:r>
              <a:rPr lang="en-US" sz="2499">
                <a:solidFill>
                  <a:srgbClr val="000000"/>
                </a:solidFill>
                <a:latin typeface="Canva Sans"/>
                <a:ea typeface="Canva Sans"/>
                <a:cs typeface="Canva Sans"/>
                <a:sym typeface="Canva Sans"/>
              </a:rPr>
              <a:t>customer service: Satisfaction with customer support (1–5)</a:t>
            </a:r>
          </a:p>
          <a:p>
            <a:pPr algn="just" marL="539749" indent="-269875" lvl="1">
              <a:lnSpc>
                <a:spcPts val="3499"/>
              </a:lnSpc>
              <a:spcBef>
                <a:spcPct val="0"/>
              </a:spcBef>
              <a:buFont typeface="Arial"/>
              <a:buChar char="•"/>
            </a:pPr>
            <a:r>
              <a:rPr lang="en-US" sz="2499">
                <a:solidFill>
                  <a:srgbClr val="000000"/>
                </a:solidFill>
                <a:latin typeface="Canva Sans"/>
                <a:ea typeface="Canva Sans"/>
                <a:cs typeface="Canva Sans"/>
                <a:sym typeface="Canva Sans"/>
              </a:rPr>
              <a:t>features: Satisfaction with system features (1–5)</a:t>
            </a:r>
          </a:p>
          <a:p>
            <a:pPr algn="just" marL="539749" indent="-269875" lvl="1">
              <a:lnSpc>
                <a:spcPts val="3499"/>
              </a:lnSpc>
              <a:spcBef>
                <a:spcPct val="0"/>
              </a:spcBef>
              <a:buFont typeface="Arial"/>
              <a:buChar char="•"/>
            </a:pPr>
            <a:r>
              <a:rPr lang="en-US" sz="2499">
                <a:solidFill>
                  <a:srgbClr val="000000"/>
                </a:solidFill>
                <a:latin typeface="Canva Sans"/>
                <a:ea typeface="Canva Sans"/>
                <a:cs typeface="Canva Sans"/>
                <a:sym typeface="Canva Sans"/>
              </a:rPr>
              <a:t>value for money: Perceived value for money (1–5)</a:t>
            </a:r>
          </a:p>
          <a:p>
            <a:pPr algn="just" marL="539749" indent="-269875" lvl="1">
              <a:lnSpc>
                <a:spcPts val="3499"/>
              </a:lnSpc>
              <a:spcBef>
                <a:spcPct val="0"/>
              </a:spcBef>
              <a:buFont typeface="Arial"/>
              <a:buChar char="•"/>
            </a:pPr>
            <a:r>
              <a:rPr lang="en-US" sz="2499">
                <a:solidFill>
                  <a:srgbClr val="000000"/>
                </a:solidFill>
                <a:latin typeface="Canva Sans"/>
                <a:ea typeface="Canva Sans"/>
                <a:cs typeface="Canva Sans"/>
                <a:sym typeface="Canva Sans"/>
              </a:rPr>
              <a:t>ease_of use: Ease of use rating (1–5)</a:t>
            </a:r>
          </a:p>
          <a:p>
            <a:pPr algn="just" marL="539749" indent="-269875" lvl="1">
              <a:lnSpc>
                <a:spcPts val="3499"/>
              </a:lnSpc>
              <a:spcBef>
                <a:spcPct val="0"/>
              </a:spcBef>
              <a:buFont typeface="Arial"/>
              <a:buChar char="•"/>
            </a:pPr>
            <a:r>
              <a:rPr lang="en-US" sz="2499">
                <a:solidFill>
                  <a:srgbClr val="000000"/>
                </a:solidFill>
                <a:latin typeface="Canva Sans"/>
                <a:ea typeface="Canva Sans"/>
                <a:cs typeface="Canva Sans"/>
                <a:sym typeface="Canva Sans"/>
              </a:rPr>
              <a:t>likelihood to recommend: Likelihood to recommend the system (1–10)</a:t>
            </a:r>
          </a:p>
          <a:p>
            <a:pPr algn="just" marL="539749" indent="-269875" lvl="1">
              <a:lnSpc>
                <a:spcPts val="3499"/>
              </a:lnSpc>
              <a:spcBef>
                <a:spcPct val="0"/>
              </a:spcBef>
              <a:buFont typeface="Arial"/>
              <a:buChar char="•"/>
            </a:pPr>
            <a:r>
              <a:rPr lang="en-US" sz="2499">
                <a:solidFill>
                  <a:srgbClr val="000000"/>
                </a:solidFill>
                <a:latin typeface="Canva Sans"/>
                <a:ea typeface="Canva Sans"/>
                <a:cs typeface="Canva Sans"/>
                <a:sym typeface="Canva Sans"/>
              </a:rPr>
              <a:t>overall_text: Written review providing detailed feedback</a:t>
            </a:r>
          </a:p>
          <a:p>
            <a:pPr algn="just">
              <a:lnSpc>
                <a:spcPts val="349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1048101">
            <a:off x="16788938" y="-4708531"/>
            <a:ext cx="4278385" cy="10762758"/>
            <a:chOff x="0" y="0"/>
            <a:chExt cx="1126817" cy="2834636"/>
          </a:xfrm>
        </p:grpSpPr>
        <p:sp>
          <p:nvSpPr>
            <p:cNvPr name="Freeform 4" id="4"/>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5" id="5"/>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48101">
            <a:off x="19751036" y="5783369"/>
            <a:ext cx="1867173" cy="10762758"/>
            <a:chOff x="0" y="0"/>
            <a:chExt cx="491766" cy="2834636"/>
          </a:xfrm>
        </p:grpSpPr>
        <p:sp>
          <p:nvSpPr>
            <p:cNvPr name="Freeform 7" id="7"/>
            <p:cNvSpPr/>
            <p:nvPr/>
          </p:nvSpPr>
          <p:spPr>
            <a:xfrm flipH="false" flipV="false" rot="0">
              <a:off x="0" y="0"/>
              <a:ext cx="491766" cy="2834636"/>
            </a:xfrm>
            <a:custGeom>
              <a:avLst/>
              <a:gdLst/>
              <a:ahLst/>
              <a:cxnLst/>
              <a:rect r="r" b="b" t="t" l="l"/>
              <a:pathLst>
                <a:path h="2834636" w="491766">
                  <a:moveTo>
                    <a:pt x="245883" y="0"/>
                  </a:moveTo>
                  <a:lnTo>
                    <a:pt x="245883" y="0"/>
                  </a:lnTo>
                  <a:cubicBezTo>
                    <a:pt x="381680" y="0"/>
                    <a:pt x="491766" y="110086"/>
                    <a:pt x="491766" y="245883"/>
                  </a:cubicBezTo>
                  <a:lnTo>
                    <a:pt x="491766" y="2588753"/>
                  </a:lnTo>
                  <a:cubicBezTo>
                    <a:pt x="491766" y="2724550"/>
                    <a:pt x="381680" y="2834636"/>
                    <a:pt x="245883" y="2834636"/>
                  </a:cubicBezTo>
                  <a:lnTo>
                    <a:pt x="245883" y="2834636"/>
                  </a:lnTo>
                  <a:cubicBezTo>
                    <a:pt x="110086" y="2834636"/>
                    <a:pt x="0" y="2724550"/>
                    <a:pt x="0" y="2588753"/>
                  </a:cubicBezTo>
                  <a:lnTo>
                    <a:pt x="0" y="245883"/>
                  </a:lnTo>
                  <a:cubicBezTo>
                    <a:pt x="0" y="110086"/>
                    <a:pt x="110086" y="0"/>
                    <a:pt x="245883" y="0"/>
                  </a:cubicBezTo>
                  <a:close/>
                </a:path>
              </a:pathLst>
            </a:custGeom>
            <a:solidFill>
              <a:srgbClr val="91D7F1"/>
            </a:solidFill>
            <a:ln cap="rnd">
              <a:noFill/>
              <a:prstDash val="solid"/>
              <a:round/>
            </a:ln>
          </p:spPr>
        </p:sp>
        <p:sp>
          <p:nvSpPr>
            <p:cNvPr name="TextBox 8" id="8"/>
            <p:cNvSpPr txBox="true"/>
            <p:nvPr/>
          </p:nvSpPr>
          <p:spPr>
            <a:xfrm>
              <a:off x="0" y="-38100"/>
              <a:ext cx="491766" cy="287273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48101">
            <a:off x="15862995" y="-2056816"/>
            <a:ext cx="712000" cy="7196626"/>
            <a:chOff x="0" y="0"/>
            <a:chExt cx="187523" cy="1895408"/>
          </a:xfrm>
        </p:grpSpPr>
        <p:sp>
          <p:nvSpPr>
            <p:cNvPr name="Freeform 10" id="10"/>
            <p:cNvSpPr/>
            <p:nvPr/>
          </p:nvSpPr>
          <p:spPr>
            <a:xfrm flipH="false" flipV="false" rot="0">
              <a:off x="0" y="0"/>
              <a:ext cx="187523" cy="1895408"/>
            </a:xfrm>
            <a:custGeom>
              <a:avLst/>
              <a:gdLst/>
              <a:ahLst/>
              <a:cxnLst/>
              <a:rect r="r" b="b" t="t" l="l"/>
              <a:pathLst>
                <a:path h="1895408" w="187523">
                  <a:moveTo>
                    <a:pt x="93761" y="0"/>
                  </a:moveTo>
                  <a:lnTo>
                    <a:pt x="93761" y="0"/>
                  </a:lnTo>
                  <a:cubicBezTo>
                    <a:pt x="145544" y="0"/>
                    <a:pt x="187523" y="41978"/>
                    <a:pt x="187523" y="93761"/>
                  </a:cubicBezTo>
                  <a:lnTo>
                    <a:pt x="187523" y="1801646"/>
                  </a:lnTo>
                  <a:cubicBezTo>
                    <a:pt x="187523" y="1853429"/>
                    <a:pt x="145544" y="1895408"/>
                    <a:pt x="93761" y="1895408"/>
                  </a:cubicBezTo>
                  <a:lnTo>
                    <a:pt x="93761" y="1895408"/>
                  </a:lnTo>
                  <a:cubicBezTo>
                    <a:pt x="41978" y="1895408"/>
                    <a:pt x="0" y="1853429"/>
                    <a:pt x="0" y="1801646"/>
                  </a:cubicBezTo>
                  <a:lnTo>
                    <a:pt x="0" y="93761"/>
                  </a:lnTo>
                  <a:cubicBezTo>
                    <a:pt x="0" y="41978"/>
                    <a:pt x="41978" y="0"/>
                    <a:pt x="93761" y="0"/>
                  </a:cubicBezTo>
                  <a:close/>
                </a:path>
              </a:pathLst>
            </a:custGeom>
            <a:solidFill>
              <a:srgbClr val="91D7F1"/>
            </a:solidFill>
            <a:ln cap="rnd">
              <a:noFill/>
              <a:prstDash val="solid"/>
              <a:round/>
            </a:ln>
          </p:spPr>
        </p:sp>
        <p:sp>
          <p:nvSpPr>
            <p:cNvPr name="TextBox 11" id="11"/>
            <p:cNvSpPr txBox="true"/>
            <p:nvPr/>
          </p:nvSpPr>
          <p:spPr>
            <a:xfrm>
              <a:off x="0" y="-38100"/>
              <a:ext cx="187523" cy="1933508"/>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048101">
            <a:off x="-3801344" y="2649260"/>
            <a:ext cx="4278385" cy="10762758"/>
            <a:chOff x="0" y="0"/>
            <a:chExt cx="1126817" cy="2834636"/>
          </a:xfrm>
        </p:grpSpPr>
        <p:sp>
          <p:nvSpPr>
            <p:cNvPr name="Freeform 13" id="13"/>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14" id="14"/>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2197683" y="2902594"/>
            <a:ext cx="793444" cy="79344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1D7F1"/>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2197683" y="4705290"/>
            <a:ext cx="793444" cy="79344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1D7F1"/>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2197683" y="6371220"/>
            <a:ext cx="793444" cy="793444"/>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1D7F1"/>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2197683" y="7761718"/>
            <a:ext cx="793444" cy="793444"/>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1D7F1"/>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260340" y="9818566"/>
            <a:ext cx="19154589" cy="1210681"/>
            <a:chOff x="0" y="0"/>
            <a:chExt cx="5044830" cy="318862"/>
          </a:xfrm>
        </p:grpSpPr>
        <p:sp>
          <p:nvSpPr>
            <p:cNvPr name="Freeform 28" id="28"/>
            <p:cNvSpPr/>
            <p:nvPr/>
          </p:nvSpPr>
          <p:spPr>
            <a:xfrm flipH="false" flipV="false" rot="0">
              <a:off x="0" y="0"/>
              <a:ext cx="5044830" cy="318862"/>
            </a:xfrm>
            <a:custGeom>
              <a:avLst/>
              <a:gdLst/>
              <a:ahLst/>
              <a:cxnLst/>
              <a:rect r="r" b="b" t="t" l="l"/>
              <a:pathLst>
                <a:path h="318862" w="5044830">
                  <a:moveTo>
                    <a:pt x="0" y="0"/>
                  </a:moveTo>
                  <a:lnTo>
                    <a:pt x="5044830" y="0"/>
                  </a:lnTo>
                  <a:lnTo>
                    <a:pt x="5044830" y="318862"/>
                  </a:lnTo>
                  <a:lnTo>
                    <a:pt x="0" y="318862"/>
                  </a:lnTo>
                  <a:close/>
                </a:path>
              </a:pathLst>
            </a:custGeom>
            <a:solidFill>
              <a:srgbClr val="5A90BF"/>
            </a:solidFill>
          </p:spPr>
        </p:sp>
        <p:sp>
          <p:nvSpPr>
            <p:cNvPr name="TextBox 29" id="29"/>
            <p:cNvSpPr txBox="true"/>
            <p:nvPr/>
          </p:nvSpPr>
          <p:spPr>
            <a:xfrm>
              <a:off x="0" y="-38100"/>
              <a:ext cx="5044830" cy="356962"/>
            </a:xfrm>
            <a:prstGeom prst="rect">
              <a:avLst/>
            </a:prstGeom>
          </p:spPr>
          <p:txBody>
            <a:bodyPr anchor="ctr" rtlCol="false" tIns="50800" lIns="50800" bIns="50800" rIns="50800"/>
            <a:lstStyle/>
            <a:p>
              <a:pPr algn="ctr">
                <a:lnSpc>
                  <a:spcPts val="2659"/>
                </a:lnSpc>
              </a:pPr>
            </a:p>
          </p:txBody>
        </p:sp>
      </p:grpSp>
      <p:sp>
        <p:nvSpPr>
          <p:cNvPr name="Freeform 30" id="30"/>
          <p:cNvSpPr/>
          <p:nvPr/>
        </p:nvSpPr>
        <p:spPr>
          <a:xfrm flipH="false" flipV="false" rot="0">
            <a:off x="13651510" y="672848"/>
            <a:ext cx="1620705" cy="500945"/>
          </a:xfrm>
          <a:custGeom>
            <a:avLst/>
            <a:gdLst/>
            <a:ahLst/>
            <a:cxnLst/>
            <a:rect r="r" b="b" t="t" l="l"/>
            <a:pathLst>
              <a:path h="500945" w="1620705">
                <a:moveTo>
                  <a:pt x="0" y="0"/>
                </a:moveTo>
                <a:lnTo>
                  <a:pt x="1620705" y="0"/>
                </a:lnTo>
                <a:lnTo>
                  <a:pt x="1620705" y="500945"/>
                </a:lnTo>
                <a:lnTo>
                  <a:pt x="0" y="500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1" id="31"/>
          <p:cNvSpPr/>
          <p:nvPr/>
        </p:nvSpPr>
        <p:spPr>
          <a:xfrm flipH="false" flipV="false" rot="0">
            <a:off x="13838009" y="5703766"/>
            <a:ext cx="4140679" cy="4114800"/>
          </a:xfrm>
          <a:custGeom>
            <a:avLst/>
            <a:gdLst/>
            <a:ahLst/>
            <a:cxnLst/>
            <a:rect r="r" b="b" t="t" l="l"/>
            <a:pathLst>
              <a:path h="4114800" w="4140679">
                <a:moveTo>
                  <a:pt x="0" y="0"/>
                </a:moveTo>
                <a:lnTo>
                  <a:pt x="4140680" y="0"/>
                </a:lnTo>
                <a:lnTo>
                  <a:pt x="414068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2" id="32"/>
          <p:cNvSpPr txBox="true"/>
          <p:nvPr/>
        </p:nvSpPr>
        <p:spPr>
          <a:xfrm rot="0">
            <a:off x="5685832" y="577598"/>
            <a:ext cx="6916336" cy="854075"/>
          </a:xfrm>
          <a:prstGeom prst="rect">
            <a:avLst/>
          </a:prstGeom>
        </p:spPr>
        <p:txBody>
          <a:bodyPr anchor="t" rtlCol="false" tIns="0" lIns="0" bIns="0" rIns="0">
            <a:spAutoFit/>
          </a:bodyPr>
          <a:lstStyle/>
          <a:p>
            <a:pPr algn="l">
              <a:lnSpc>
                <a:spcPts val="5500"/>
              </a:lnSpc>
            </a:pPr>
            <a:r>
              <a:rPr lang="en-US" sz="5000" b="true">
                <a:solidFill>
                  <a:srgbClr val="000000"/>
                </a:solidFill>
                <a:latin typeface="Cooper Hewitt Bold"/>
                <a:ea typeface="Cooper Hewitt Bold"/>
                <a:cs typeface="Cooper Hewitt Bold"/>
                <a:sym typeface="Cooper Hewitt Bold"/>
              </a:rPr>
              <a:t>DATA PREPROCESSING</a:t>
            </a:r>
          </a:p>
        </p:txBody>
      </p:sp>
      <p:sp>
        <p:nvSpPr>
          <p:cNvPr name="TextBox 33" id="33"/>
          <p:cNvSpPr txBox="true"/>
          <p:nvPr/>
        </p:nvSpPr>
        <p:spPr>
          <a:xfrm rot="0">
            <a:off x="2316270" y="3008803"/>
            <a:ext cx="556270" cy="552450"/>
          </a:xfrm>
          <a:prstGeom prst="rect">
            <a:avLst/>
          </a:prstGeom>
        </p:spPr>
        <p:txBody>
          <a:bodyPr anchor="t" rtlCol="false" tIns="0" lIns="0" bIns="0" rIns="0">
            <a:spAutoFit/>
          </a:bodyPr>
          <a:lstStyle/>
          <a:p>
            <a:pPr algn="ctr">
              <a:lnSpc>
                <a:spcPts val="4199"/>
              </a:lnSpc>
            </a:pPr>
            <a:r>
              <a:rPr lang="en-US" sz="3499" b="true">
                <a:solidFill>
                  <a:srgbClr val="000000"/>
                </a:solidFill>
                <a:latin typeface="Poppins Bold"/>
                <a:ea typeface="Poppins Bold"/>
                <a:cs typeface="Poppins Bold"/>
                <a:sym typeface="Poppins Bold"/>
              </a:rPr>
              <a:t>1</a:t>
            </a:r>
          </a:p>
        </p:txBody>
      </p:sp>
      <p:sp>
        <p:nvSpPr>
          <p:cNvPr name="TextBox 34" id="34"/>
          <p:cNvSpPr txBox="true"/>
          <p:nvPr/>
        </p:nvSpPr>
        <p:spPr>
          <a:xfrm rot="0">
            <a:off x="2316270" y="4811499"/>
            <a:ext cx="556270" cy="552450"/>
          </a:xfrm>
          <a:prstGeom prst="rect">
            <a:avLst/>
          </a:prstGeom>
        </p:spPr>
        <p:txBody>
          <a:bodyPr anchor="t" rtlCol="false" tIns="0" lIns="0" bIns="0" rIns="0">
            <a:spAutoFit/>
          </a:bodyPr>
          <a:lstStyle/>
          <a:p>
            <a:pPr algn="ctr">
              <a:lnSpc>
                <a:spcPts val="4199"/>
              </a:lnSpc>
            </a:pPr>
            <a:r>
              <a:rPr lang="en-US" sz="3499" b="true">
                <a:solidFill>
                  <a:srgbClr val="000000"/>
                </a:solidFill>
                <a:latin typeface="Poppins Bold"/>
                <a:ea typeface="Poppins Bold"/>
                <a:cs typeface="Poppins Bold"/>
                <a:sym typeface="Poppins Bold"/>
              </a:rPr>
              <a:t>2</a:t>
            </a:r>
          </a:p>
        </p:txBody>
      </p:sp>
      <p:sp>
        <p:nvSpPr>
          <p:cNvPr name="TextBox 35" id="35"/>
          <p:cNvSpPr txBox="true"/>
          <p:nvPr/>
        </p:nvSpPr>
        <p:spPr>
          <a:xfrm rot="0">
            <a:off x="2316270" y="6472502"/>
            <a:ext cx="556270" cy="552450"/>
          </a:xfrm>
          <a:prstGeom prst="rect">
            <a:avLst/>
          </a:prstGeom>
        </p:spPr>
        <p:txBody>
          <a:bodyPr anchor="t" rtlCol="false" tIns="0" lIns="0" bIns="0" rIns="0">
            <a:spAutoFit/>
          </a:bodyPr>
          <a:lstStyle/>
          <a:p>
            <a:pPr algn="ctr">
              <a:lnSpc>
                <a:spcPts val="4199"/>
              </a:lnSpc>
            </a:pPr>
            <a:r>
              <a:rPr lang="en-US" sz="3499" b="true">
                <a:solidFill>
                  <a:srgbClr val="000000"/>
                </a:solidFill>
                <a:latin typeface="Poppins Bold"/>
                <a:ea typeface="Poppins Bold"/>
                <a:cs typeface="Poppins Bold"/>
                <a:sym typeface="Poppins Bold"/>
              </a:rPr>
              <a:t>3</a:t>
            </a:r>
          </a:p>
        </p:txBody>
      </p:sp>
      <p:sp>
        <p:nvSpPr>
          <p:cNvPr name="TextBox 36" id="36"/>
          <p:cNvSpPr txBox="true"/>
          <p:nvPr/>
        </p:nvSpPr>
        <p:spPr>
          <a:xfrm rot="0">
            <a:off x="2335320" y="7850465"/>
            <a:ext cx="556270" cy="552450"/>
          </a:xfrm>
          <a:prstGeom prst="rect">
            <a:avLst/>
          </a:prstGeom>
        </p:spPr>
        <p:txBody>
          <a:bodyPr anchor="t" rtlCol="false" tIns="0" lIns="0" bIns="0" rIns="0">
            <a:spAutoFit/>
          </a:bodyPr>
          <a:lstStyle/>
          <a:p>
            <a:pPr algn="ctr">
              <a:lnSpc>
                <a:spcPts val="4199"/>
              </a:lnSpc>
            </a:pPr>
            <a:r>
              <a:rPr lang="en-US" sz="3499" b="true">
                <a:solidFill>
                  <a:srgbClr val="000000"/>
                </a:solidFill>
                <a:latin typeface="Poppins Bold"/>
                <a:ea typeface="Poppins Bold"/>
                <a:cs typeface="Poppins Bold"/>
                <a:sym typeface="Poppins Bold"/>
              </a:rPr>
              <a:t>4</a:t>
            </a:r>
          </a:p>
        </p:txBody>
      </p:sp>
      <p:sp>
        <p:nvSpPr>
          <p:cNvPr name="TextBox 37" id="37"/>
          <p:cNvSpPr txBox="true"/>
          <p:nvPr/>
        </p:nvSpPr>
        <p:spPr>
          <a:xfrm rot="0">
            <a:off x="3241447" y="3064366"/>
            <a:ext cx="2339578"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Canva Sans Bold"/>
                <a:ea typeface="Canva Sans Bold"/>
                <a:cs typeface="Canva Sans Bold"/>
                <a:sym typeface="Canva Sans Bold"/>
              </a:rPr>
              <a:t>Validate Rating</a:t>
            </a:r>
          </a:p>
        </p:txBody>
      </p:sp>
      <p:sp>
        <p:nvSpPr>
          <p:cNvPr name="TextBox 38" id="38"/>
          <p:cNvSpPr txBox="true"/>
          <p:nvPr/>
        </p:nvSpPr>
        <p:spPr>
          <a:xfrm rot="0">
            <a:off x="1299835" y="1537344"/>
            <a:ext cx="12001500" cy="860425"/>
          </a:xfrm>
          <a:prstGeom prst="rect">
            <a:avLst/>
          </a:prstGeom>
        </p:spPr>
        <p:txBody>
          <a:bodyPr anchor="t" rtlCol="false" tIns="0" lIns="0" bIns="0" rIns="0">
            <a:spAutoFit/>
          </a:bodyPr>
          <a:lstStyle/>
          <a:p>
            <a:pPr algn="just">
              <a:lnSpc>
                <a:spcPts val="3499"/>
              </a:lnSpc>
              <a:spcBef>
                <a:spcPct val="0"/>
              </a:spcBef>
            </a:pPr>
            <a:r>
              <a:rPr lang="en-US" sz="2499">
                <a:solidFill>
                  <a:srgbClr val="000000"/>
                </a:solidFill>
                <a:latin typeface="Canva Sans"/>
                <a:ea typeface="Canva Sans"/>
                <a:cs typeface="Canva Sans"/>
                <a:sym typeface="Canva Sans"/>
              </a:rPr>
              <a:t>The initial dataset consisted of 1,462 responses. After cleaning and validation, only 769 valid responses (52.60%) met the criteria for analysis.</a:t>
            </a:r>
          </a:p>
        </p:txBody>
      </p:sp>
      <p:sp>
        <p:nvSpPr>
          <p:cNvPr name="TextBox 39" id="39"/>
          <p:cNvSpPr txBox="true"/>
          <p:nvPr/>
        </p:nvSpPr>
        <p:spPr>
          <a:xfrm rot="0">
            <a:off x="3241447" y="3648413"/>
            <a:ext cx="9359801" cy="701675"/>
          </a:xfrm>
          <a:prstGeom prst="rect">
            <a:avLst/>
          </a:prstGeom>
        </p:spPr>
        <p:txBody>
          <a:bodyPr anchor="t" rtlCol="false" tIns="0" lIns="0" bIns="0" rIns="0">
            <a:spAutoFit/>
          </a:bodyPr>
          <a:lstStyle/>
          <a:p>
            <a:pPr algn="just" marL="431801" indent="-215900" lvl="1">
              <a:lnSpc>
                <a:spcPts val="2800"/>
              </a:lnSpc>
              <a:buFont typeface="Arial"/>
              <a:buChar char="•"/>
            </a:pPr>
            <a:r>
              <a:rPr lang="en-US" sz="2000">
                <a:solidFill>
                  <a:srgbClr val="000000"/>
                </a:solidFill>
                <a:latin typeface="Canva Sans"/>
                <a:ea typeface="Canva Sans"/>
                <a:cs typeface="Canva Sans"/>
                <a:sym typeface="Canva Sans"/>
              </a:rPr>
              <a:t>Ensuring all ratings are within the correct range (1-5) and likelihood (1-10).</a:t>
            </a:r>
          </a:p>
          <a:p>
            <a:pPr algn="just" marL="431801" indent="-215900" lvl="1">
              <a:lnSpc>
                <a:spcPts val="2800"/>
              </a:lnSpc>
              <a:buFont typeface="Arial"/>
              <a:buChar char="•"/>
            </a:pPr>
            <a:r>
              <a:rPr lang="en-US" sz="2000">
                <a:solidFill>
                  <a:srgbClr val="000000"/>
                </a:solidFill>
                <a:latin typeface="Canva Sans"/>
                <a:ea typeface="Canva Sans"/>
                <a:cs typeface="Canva Sans"/>
                <a:sym typeface="Canva Sans"/>
              </a:rPr>
              <a:t>Deleting rows with invalid values such as 0 and -1.</a:t>
            </a:r>
          </a:p>
        </p:txBody>
      </p:sp>
      <p:sp>
        <p:nvSpPr>
          <p:cNvPr name="TextBox 40" id="40"/>
          <p:cNvSpPr txBox="true"/>
          <p:nvPr/>
        </p:nvSpPr>
        <p:spPr>
          <a:xfrm rot="0">
            <a:off x="3241447" y="4792449"/>
            <a:ext cx="4059138" cy="422275"/>
          </a:xfrm>
          <a:prstGeom prst="rect">
            <a:avLst/>
          </a:prstGeom>
        </p:spPr>
        <p:txBody>
          <a:bodyPr anchor="t" rtlCol="false" tIns="0" lIns="0" bIns="0" rIns="0">
            <a:spAutoFit/>
          </a:bodyPr>
          <a:lstStyle/>
          <a:p>
            <a:pPr algn="just">
              <a:lnSpc>
                <a:spcPts val="3499"/>
              </a:lnSpc>
              <a:spcBef>
                <a:spcPct val="0"/>
              </a:spcBef>
            </a:pPr>
            <a:r>
              <a:rPr lang="en-US" b="true" sz="2499">
                <a:solidFill>
                  <a:srgbClr val="000000"/>
                </a:solidFill>
                <a:latin typeface="Canva Sans Bold"/>
                <a:ea typeface="Canva Sans Bold"/>
                <a:cs typeface="Canva Sans Bold"/>
                <a:sym typeface="Canva Sans Bold"/>
              </a:rPr>
              <a:t>Deleting Incomplete Rows</a:t>
            </a:r>
          </a:p>
        </p:txBody>
      </p:sp>
      <p:sp>
        <p:nvSpPr>
          <p:cNvPr name="TextBox 41" id="41"/>
          <p:cNvSpPr txBox="true"/>
          <p:nvPr/>
        </p:nvSpPr>
        <p:spPr>
          <a:xfrm rot="0">
            <a:off x="3241447" y="5376649"/>
            <a:ext cx="9715500" cy="701675"/>
          </a:xfrm>
          <a:prstGeom prst="rect">
            <a:avLst/>
          </a:prstGeom>
        </p:spPr>
        <p:txBody>
          <a:bodyPr anchor="t" rtlCol="false" tIns="0" lIns="0" bIns="0" rIns="0">
            <a:spAutoFit/>
          </a:bodyPr>
          <a:lstStyle/>
          <a:p>
            <a:pPr algn="just" marL="431801" indent="-215900" lvl="1">
              <a:lnSpc>
                <a:spcPts val="2800"/>
              </a:lnSpc>
              <a:buFont typeface="Arial"/>
              <a:buChar char="•"/>
            </a:pPr>
            <a:r>
              <a:rPr lang="en-US" sz="2000">
                <a:solidFill>
                  <a:srgbClr val="000000"/>
                </a:solidFill>
                <a:latin typeface="Canva Sans"/>
                <a:ea typeface="Canva Sans"/>
                <a:cs typeface="Canva Sans"/>
                <a:sym typeface="Canva Sans"/>
              </a:rPr>
              <a:t>Removing responses that do not fill in important columns: overall_rating, ease_of_use, likelihood_to_recommend, and other rating attributes.</a:t>
            </a:r>
          </a:p>
        </p:txBody>
      </p:sp>
      <p:sp>
        <p:nvSpPr>
          <p:cNvPr name="TextBox 42" id="42"/>
          <p:cNvSpPr txBox="true"/>
          <p:nvPr/>
        </p:nvSpPr>
        <p:spPr>
          <a:xfrm rot="0">
            <a:off x="3241447" y="6532992"/>
            <a:ext cx="3258443"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Canva Sans Bold"/>
                <a:ea typeface="Canva Sans Bold"/>
                <a:cs typeface="Canva Sans Bold"/>
                <a:sym typeface="Canva Sans Bold"/>
              </a:rPr>
              <a:t>Review Text Cleaning</a:t>
            </a:r>
          </a:p>
        </p:txBody>
      </p:sp>
      <p:sp>
        <p:nvSpPr>
          <p:cNvPr name="TextBox 43" id="43"/>
          <p:cNvSpPr txBox="true"/>
          <p:nvPr/>
        </p:nvSpPr>
        <p:spPr>
          <a:xfrm rot="0">
            <a:off x="3241447" y="7126717"/>
            <a:ext cx="10225088" cy="339725"/>
          </a:xfrm>
          <a:prstGeom prst="rect">
            <a:avLst/>
          </a:prstGeom>
        </p:spPr>
        <p:txBody>
          <a:bodyPr anchor="t" rtlCol="false" tIns="0" lIns="0" bIns="0" rIns="0">
            <a:spAutoFit/>
          </a:bodyPr>
          <a:lstStyle/>
          <a:p>
            <a:pPr algn="just" marL="431799" indent="-215899" lvl="1">
              <a:lnSpc>
                <a:spcPts val="2799"/>
              </a:lnSpc>
              <a:buFont typeface="Arial"/>
              <a:buChar char="•"/>
            </a:pPr>
            <a:r>
              <a:rPr lang="en-US" sz="1999">
                <a:solidFill>
                  <a:srgbClr val="000000"/>
                </a:solidFill>
                <a:latin typeface="Canva Sans"/>
                <a:ea typeface="Canva Sans"/>
                <a:cs typeface="Canva Sans"/>
                <a:sym typeface="Canva Sans"/>
              </a:rPr>
              <a:t>Lowercase, trim whitespace, remove URLs, symbols, usernames, and empty text.</a:t>
            </a:r>
          </a:p>
        </p:txBody>
      </p:sp>
      <p:sp>
        <p:nvSpPr>
          <p:cNvPr name="TextBox 44" id="44"/>
          <p:cNvSpPr txBox="true"/>
          <p:nvPr/>
        </p:nvSpPr>
        <p:spPr>
          <a:xfrm rot="0">
            <a:off x="3241447" y="7923489"/>
            <a:ext cx="5714851"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Canva Sans Bold"/>
                <a:ea typeface="Canva Sans Bold"/>
                <a:cs typeface="Canva Sans Bold"/>
                <a:sym typeface="Canva Sans Bold"/>
              </a:rPr>
              <a:t>The dataset is divided into two parts:</a:t>
            </a:r>
          </a:p>
        </p:txBody>
      </p:sp>
      <p:sp>
        <p:nvSpPr>
          <p:cNvPr name="TextBox 45" id="45"/>
          <p:cNvSpPr txBox="true"/>
          <p:nvPr/>
        </p:nvSpPr>
        <p:spPr>
          <a:xfrm rot="0">
            <a:off x="3241447" y="8517215"/>
            <a:ext cx="10628889" cy="692150"/>
          </a:xfrm>
          <a:prstGeom prst="rect">
            <a:avLst/>
          </a:prstGeom>
        </p:spPr>
        <p:txBody>
          <a:bodyPr anchor="t" rtlCol="false" tIns="0" lIns="0" bIns="0" rIns="0">
            <a:spAutoFit/>
          </a:bodyPr>
          <a:lstStyle/>
          <a:p>
            <a:pPr algn="just" marL="431799" indent="-215899" lvl="1">
              <a:lnSpc>
                <a:spcPts val="2799"/>
              </a:lnSpc>
              <a:buFont typeface="Arial"/>
              <a:buChar char="•"/>
            </a:pPr>
            <a:r>
              <a:rPr lang="en-US" sz="1999">
                <a:solidFill>
                  <a:srgbClr val="000000"/>
                </a:solidFill>
                <a:latin typeface="Canva Sans"/>
                <a:ea typeface="Canva Sans"/>
                <a:cs typeface="Canva Sans"/>
                <a:sym typeface="Canva Sans"/>
              </a:rPr>
              <a:t>Rating Dataset → used for CSAT, CES, NPS analysis.</a:t>
            </a:r>
          </a:p>
          <a:p>
            <a:pPr algn="just" marL="431799" indent="-215899" lvl="1">
              <a:lnSpc>
                <a:spcPts val="2799"/>
              </a:lnSpc>
              <a:buFont typeface="Arial"/>
              <a:buChar char="•"/>
            </a:pPr>
            <a:r>
              <a:rPr lang="en-US" sz="1999">
                <a:solidFill>
                  <a:srgbClr val="000000"/>
                </a:solidFill>
                <a:latin typeface="Canva Sans"/>
                <a:ea typeface="Canva Sans"/>
                <a:cs typeface="Canva Sans"/>
                <a:sym typeface="Canva Sans"/>
              </a:rPr>
              <a:t>Sentiment Dataset → contains valid reviews for sentiment analysis and wordclouds.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true" flipV="false" rot="0">
            <a:off x="16371912" y="971550"/>
            <a:ext cx="2251784" cy="696006"/>
          </a:xfrm>
          <a:custGeom>
            <a:avLst/>
            <a:gdLst/>
            <a:ahLst/>
            <a:cxnLst/>
            <a:rect r="r" b="b" t="t" l="l"/>
            <a:pathLst>
              <a:path h="696006" w="2251784">
                <a:moveTo>
                  <a:pt x="2251784" y="0"/>
                </a:moveTo>
                <a:lnTo>
                  <a:pt x="0" y="0"/>
                </a:lnTo>
                <a:lnTo>
                  <a:pt x="0" y="696006"/>
                </a:lnTo>
                <a:lnTo>
                  <a:pt x="2251784" y="696006"/>
                </a:lnTo>
                <a:lnTo>
                  <a:pt x="225178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35696" y="971550"/>
            <a:ext cx="2251784" cy="696006"/>
          </a:xfrm>
          <a:custGeom>
            <a:avLst/>
            <a:gdLst/>
            <a:ahLst/>
            <a:cxnLst/>
            <a:rect r="r" b="b" t="t" l="l"/>
            <a:pathLst>
              <a:path h="696006" w="2251784">
                <a:moveTo>
                  <a:pt x="0" y="0"/>
                </a:moveTo>
                <a:lnTo>
                  <a:pt x="2251784" y="0"/>
                </a:lnTo>
                <a:lnTo>
                  <a:pt x="2251784" y="696006"/>
                </a:lnTo>
                <a:lnTo>
                  <a:pt x="0" y="6960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60340" y="9818566"/>
            <a:ext cx="19154589" cy="1210681"/>
            <a:chOff x="0" y="0"/>
            <a:chExt cx="5044830" cy="318862"/>
          </a:xfrm>
        </p:grpSpPr>
        <p:sp>
          <p:nvSpPr>
            <p:cNvPr name="Freeform 6" id="6"/>
            <p:cNvSpPr/>
            <p:nvPr/>
          </p:nvSpPr>
          <p:spPr>
            <a:xfrm flipH="false" flipV="false" rot="0">
              <a:off x="0" y="0"/>
              <a:ext cx="5044830" cy="318862"/>
            </a:xfrm>
            <a:custGeom>
              <a:avLst/>
              <a:gdLst/>
              <a:ahLst/>
              <a:cxnLst/>
              <a:rect r="r" b="b" t="t" l="l"/>
              <a:pathLst>
                <a:path h="318862" w="5044830">
                  <a:moveTo>
                    <a:pt x="0" y="0"/>
                  </a:moveTo>
                  <a:lnTo>
                    <a:pt x="5044830" y="0"/>
                  </a:lnTo>
                  <a:lnTo>
                    <a:pt x="5044830" y="318862"/>
                  </a:lnTo>
                  <a:lnTo>
                    <a:pt x="0" y="318862"/>
                  </a:lnTo>
                  <a:close/>
                </a:path>
              </a:pathLst>
            </a:custGeom>
            <a:solidFill>
              <a:srgbClr val="5A90BF"/>
            </a:solidFill>
          </p:spPr>
        </p:sp>
        <p:sp>
          <p:nvSpPr>
            <p:cNvPr name="TextBox 7" id="7"/>
            <p:cNvSpPr txBox="true"/>
            <p:nvPr/>
          </p:nvSpPr>
          <p:spPr>
            <a:xfrm>
              <a:off x="0" y="-38100"/>
              <a:ext cx="5044830" cy="35696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2065140">
            <a:off x="-3949783" y="3876921"/>
            <a:ext cx="4278385" cy="10762758"/>
            <a:chOff x="0" y="0"/>
            <a:chExt cx="1126817" cy="2834636"/>
          </a:xfrm>
        </p:grpSpPr>
        <p:sp>
          <p:nvSpPr>
            <p:cNvPr name="Freeform 9" id="9"/>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10" id="10"/>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2064000">
            <a:off x="17960469" y="3876921"/>
            <a:ext cx="4278385" cy="10762758"/>
            <a:chOff x="0" y="0"/>
            <a:chExt cx="1126817" cy="2834636"/>
          </a:xfrm>
        </p:grpSpPr>
        <p:sp>
          <p:nvSpPr>
            <p:cNvPr name="Freeform 12" id="12"/>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13" id="13"/>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704938" y="2211526"/>
            <a:ext cx="647524" cy="647524"/>
          </a:xfrm>
          <a:custGeom>
            <a:avLst/>
            <a:gdLst/>
            <a:ahLst/>
            <a:cxnLst/>
            <a:rect r="r" b="b" t="t" l="l"/>
            <a:pathLst>
              <a:path h="647524" w="647524">
                <a:moveTo>
                  <a:pt x="0" y="0"/>
                </a:moveTo>
                <a:lnTo>
                  <a:pt x="647524" y="0"/>
                </a:lnTo>
                <a:lnTo>
                  <a:pt x="647524" y="647525"/>
                </a:lnTo>
                <a:lnTo>
                  <a:pt x="0" y="6475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707961" y="4425436"/>
            <a:ext cx="641478" cy="872759"/>
          </a:xfrm>
          <a:custGeom>
            <a:avLst/>
            <a:gdLst/>
            <a:ahLst/>
            <a:cxnLst/>
            <a:rect r="r" b="b" t="t" l="l"/>
            <a:pathLst>
              <a:path h="872759" w="641478">
                <a:moveTo>
                  <a:pt x="0" y="0"/>
                </a:moveTo>
                <a:lnTo>
                  <a:pt x="641478" y="0"/>
                </a:lnTo>
                <a:lnTo>
                  <a:pt x="641478" y="872758"/>
                </a:lnTo>
                <a:lnTo>
                  <a:pt x="0" y="8727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702821" y="3294026"/>
            <a:ext cx="6902638" cy="1131410"/>
          </a:xfrm>
          <a:custGeom>
            <a:avLst/>
            <a:gdLst/>
            <a:ahLst/>
            <a:cxnLst/>
            <a:rect r="r" b="b" t="t" l="l"/>
            <a:pathLst>
              <a:path h="1131410" w="6902638">
                <a:moveTo>
                  <a:pt x="0" y="0"/>
                </a:moveTo>
                <a:lnTo>
                  <a:pt x="6902638" y="0"/>
                </a:lnTo>
                <a:lnTo>
                  <a:pt x="6902638" y="1131410"/>
                </a:lnTo>
                <a:lnTo>
                  <a:pt x="0" y="1131410"/>
                </a:lnTo>
                <a:lnTo>
                  <a:pt x="0" y="0"/>
                </a:lnTo>
                <a:close/>
              </a:path>
            </a:pathLst>
          </a:custGeom>
          <a:blipFill>
            <a:blip r:embed="rId9"/>
            <a:stretch>
              <a:fillRect l="0" t="0" r="0" b="0"/>
            </a:stretch>
          </a:blipFill>
        </p:spPr>
      </p:sp>
      <p:sp>
        <p:nvSpPr>
          <p:cNvPr name="Freeform 17" id="17"/>
          <p:cNvSpPr/>
          <p:nvPr/>
        </p:nvSpPr>
        <p:spPr>
          <a:xfrm flipH="false" flipV="false" rot="0">
            <a:off x="1702821" y="5762625"/>
            <a:ext cx="6902638" cy="1047219"/>
          </a:xfrm>
          <a:custGeom>
            <a:avLst/>
            <a:gdLst/>
            <a:ahLst/>
            <a:cxnLst/>
            <a:rect r="r" b="b" t="t" l="l"/>
            <a:pathLst>
              <a:path h="1047219" w="6902638">
                <a:moveTo>
                  <a:pt x="0" y="0"/>
                </a:moveTo>
                <a:lnTo>
                  <a:pt x="6902638" y="0"/>
                </a:lnTo>
                <a:lnTo>
                  <a:pt x="6902638" y="1047219"/>
                </a:lnTo>
                <a:lnTo>
                  <a:pt x="0" y="1047219"/>
                </a:lnTo>
                <a:lnTo>
                  <a:pt x="0" y="0"/>
                </a:lnTo>
                <a:close/>
              </a:path>
            </a:pathLst>
          </a:custGeom>
          <a:blipFill>
            <a:blip r:embed="rId10"/>
            <a:stretch>
              <a:fillRect l="0" t="0" r="0" b="0"/>
            </a:stretch>
          </a:blipFill>
        </p:spPr>
      </p:sp>
      <p:sp>
        <p:nvSpPr>
          <p:cNvPr name="Freeform 18" id="18"/>
          <p:cNvSpPr/>
          <p:nvPr/>
        </p:nvSpPr>
        <p:spPr>
          <a:xfrm flipH="false" flipV="false" rot="0">
            <a:off x="671598" y="7102903"/>
            <a:ext cx="705949" cy="557841"/>
          </a:xfrm>
          <a:custGeom>
            <a:avLst/>
            <a:gdLst/>
            <a:ahLst/>
            <a:cxnLst/>
            <a:rect r="r" b="b" t="t" l="l"/>
            <a:pathLst>
              <a:path h="557841" w="705949">
                <a:moveTo>
                  <a:pt x="0" y="0"/>
                </a:moveTo>
                <a:lnTo>
                  <a:pt x="705949" y="0"/>
                </a:lnTo>
                <a:lnTo>
                  <a:pt x="705949" y="557841"/>
                </a:lnTo>
                <a:lnTo>
                  <a:pt x="0" y="5578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9" id="19"/>
          <p:cNvSpPr/>
          <p:nvPr/>
        </p:nvSpPr>
        <p:spPr>
          <a:xfrm flipH="false" flipV="false" rot="0">
            <a:off x="4584891" y="8495769"/>
            <a:ext cx="4509274" cy="975777"/>
          </a:xfrm>
          <a:custGeom>
            <a:avLst/>
            <a:gdLst/>
            <a:ahLst/>
            <a:cxnLst/>
            <a:rect r="r" b="b" t="t" l="l"/>
            <a:pathLst>
              <a:path h="975777" w="4509274">
                <a:moveTo>
                  <a:pt x="0" y="0"/>
                </a:moveTo>
                <a:lnTo>
                  <a:pt x="4509274" y="0"/>
                </a:lnTo>
                <a:lnTo>
                  <a:pt x="4509274" y="975778"/>
                </a:lnTo>
                <a:lnTo>
                  <a:pt x="0" y="975778"/>
                </a:lnTo>
                <a:lnTo>
                  <a:pt x="0" y="0"/>
                </a:lnTo>
                <a:close/>
              </a:path>
            </a:pathLst>
          </a:custGeom>
          <a:blipFill>
            <a:blip r:embed="rId13"/>
            <a:stretch>
              <a:fillRect l="0" t="0" r="0" b="0"/>
            </a:stretch>
          </a:blipFill>
        </p:spPr>
      </p:sp>
      <p:sp>
        <p:nvSpPr>
          <p:cNvPr name="Freeform 20" id="20"/>
          <p:cNvSpPr/>
          <p:nvPr/>
        </p:nvSpPr>
        <p:spPr>
          <a:xfrm flipH="false" flipV="false" rot="0">
            <a:off x="10791868" y="2347964"/>
            <a:ext cx="4824115" cy="2616213"/>
          </a:xfrm>
          <a:custGeom>
            <a:avLst/>
            <a:gdLst/>
            <a:ahLst/>
            <a:cxnLst/>
            <a:rect r="r" b="b" t="t" l="l"/>
            <a:pathLst>
              <a:path h="2616213" w="4824115">
                <a:moveTo>
                  <a:pt x="0" y="0"/>
                </a:moveTo>
                <a:lnTo>
                  <a:pt x="4824114" y="0"/>
                </a:lnTo>
                <a:lnTo>
                  <a:pt x="4824114" y="2616212"/>
                </a:lnTo>
                <a:lnTo>
                  <a:pt x="0" y="2616212"/>
                </a:lnTo>
                <a:lnTo>
                  <a:pt x="0" y="0"/>
                </a:lnTo>
                <a:close/>
              </a:path>
            </a:pathLst>
          </a:custGeom>
          <a:blipFill>
            <a:blip r:embed="rId14"/>
            <a:stretch>
              <a:fillRect l="0" t="0" r="0" b="0"/>
            </a:stretch>
          </a:blipFill>
        </p:spPr>
      </p:sp>
      <p:sp>
        <p:nvSpPr>
          <p:cNvPr name="Freeform 21" id="21"/>
          <p:cNvSpPr/>
          <p:nvPr/>
        </p:nvSpPr>
        <p:spPr>
          <a:xfrm flipH="false" flipV="false" rot="0">
            <a:off x="10013281" y="6995526"/>
            <a:ext cx="5604717" cy="2262774"/>
          </a:xfrm>
          <a:custGeom>
            <a:avLst/>
            <a:gdLst/>
            <a:ahLst/>
            <a:cxnLst/>
            <a:rect r="r" b="b" t="t" l="l"/>
            <a:pathLst>
              <a:path h="2262774" w="5604717">
                <a:moveTo>
                  <a:pt x="0" y="0"/>
                </a:moveTo>
                <a:lnTo>
                  <a:pt x="5604717" y="0"/>
                </a:lnTo>
                <a:lnTo>
                  <a:pt x="5604717" y="2262774"/>
                </a:lnTo>
                <a:lnTo>
                  <a:pt x="0" y="2262774"/>
                </a:lnTo>
                <a:lnTo>
                  <a:pt x="0" y="0"/>
                </a:lnTo>
                <a:close/>
              </a:path>
            </a:pathLst>
          </a:custGeom>
          <a:blipFill>
            <a:blip r:embed="rId15"/>
            <a:stretch>
              <a:fillRect l="0" t="0" r="0" b="0"/>
            </a:stretch>
          </a:blipFill>
        </p:spPr>
      </p:sp>
      <p:sp>
        <p:nvSpPr>
          <p:cNvPr name="TextBox 22" id="22"/>
          <p:cNvSpPr txBox="true"/>
          <p:nvPr/>
        </p:nvSpPr>
        <p:spPr>
          <a:xfrm rot="0">
            <a:off x="2125992" y="828675"/>
            <a:ext cx="14036016" cy="904875"/>
          </a:xfrm>
          <a:prstGeom prst="rect">
            <a:avLst/>
          </a:prstGeom>
        </p:spPr>
        <p:txBody>
          <a:bodyPr anchor="t" rtlCol="false" tIns="0" lIns="0" bIns="0" rIns="0">
            <a:spAutoFit/>
          </a:bodyPr>
          <a:lstStyle/>
          <a:p>
            <a:pPr algn="ctr">
              <a:lnSpc>
                <a:spcPts val="6000"/>
              </a:lnSpc>
            </a:pPr>
            <a:r>
              <a:rPr lang="en-US" b="true" sz="5000">
                <a:solidFill>
                  <a:srgbClr val="000000"/>
                </a:solidFill>
                <a:latin typeface="Cooper Hewitt Bold"/>
                <a:ea typeface="Cooper Hewitt Bold"/>
                <a:cs typeface="Cooper Hewitt Bold"/>
                <a:sym typeface="Cooper Hewitt Bold"/>
              </a:rPr>
              <a:t>CUSTOMER SATISFACTION ANALYSIS METHODS </a:t>
            </a:r>
          </a:p>
        </p:txBody>
      </p:sp>
      <p:sp>
        <p:nvSpPr>
          <p:cNvPr name="TextBox 23" id="23"/>
          <p:cNvSpPr txBox="true"/>
          <p:nvPr/>
        </p:nvSpPr>
        <p:spPr>
          <a:xfrm rot="0">
            <a:off x="1496145" y="2281289"/>
            <a:ext cx="5887492"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Customer Satisfaction Score (CSAT)</a:t>
            </a:r>
          </a:p>
        </p:txBody>
      </p:sp>
      <p:sp>
        <p:nvSpPr>
          <p:cNvPr name="TextBox 24" id="24"/>
          <p:cNvSpPr txBox="true"/>
          <p:nvPr/>
        </p:nvSpPr>
        <p:spPr>
          <a:xfrm rot="0">
            <a:off x="1496145" y="2801901"/>
            <a:ext cx="8517136" cy="358775"/>
          </a:xfrm>
          <a:prstGeom prst="rect">
            <a:avLst/>
          </a:prstGeom>
        </p:spPr>
        <p:txBody>
          <a:bodyPr anchor="t" rtlCol="false" tIns="0" lIns="0" bIns="0" rIns="0">
            <a:spAutoFit/>
          </a:bodyPr>
          <a:lstStyle/>
          <a:p>
            <a:pPr algn="ctr">
              <a:lnSpc>
                <a:spcPts val="2799"/>
              </a:lnSpc>
              <a:spcBef>
                <a:spcPct val="0"/>
              </a:spcBef>
            </a:pPr>
            <a:r>
              <a:rPr lang="en-US" sz="1999">
                <a:solidFill>
                  <a:srgbClr val="000000"/>
                </a:solidFill>
                <a:latin typeface="Poppins"/>
                <a:ea typeface="Poppins"/>
                <a:cs typeface="Poppins"/>
                <a:sym typeface="Poppins"/>
              </a:rPr>
              <a:t>Measuring overall customer satisfaction level based on a 1-5 rating</a:t>
            </a:r>
          </a:p>
        </p:txBody>
      </p:sp>
      <p:sp>
        <p:nvSpPr>
          <p:cNvPr name="TextBox 25" id="25"/>
          <p:cNvSpPr txBox="true"/>
          <p:nvPr/>
        </p:nvSpPr>
        <p:spPr>
          <a:xfrm rot="0">
            <a:off x="1496145" y="4702175"/>
            <a:ext cx="4533900"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Customer Effort Score (CES)</a:t>
            </a:r>
          </a:p>
        </p:txBody>
      </p:sp>
      <p:sp>
        <p:nvSpPr>
          <p:cNvPr name="TextBox 26" id="26"/>
          <p:cNvSpPr txBox="true"/>
          <p:nvPr/>
        </p:nvSpPr>
        <p:spPr>
          <a:xfrm rot="0">
            <a:off x="1496145" y="5219700"/>
            <a:ext cx="10826353" cy="358775"/>
          </a:xfrm>
          <a:prstGeom prst="rect">
            <a:avLst/>
          </a:prstGeom>
        </p:spPr>
        <p:txBody>
          <a:bodyPr anchor="t" rtlCol="false" tIns="0" lIns="0" bIns="0" rIns="0">
            <a:spAutoFit/>
          </a:bodyPr>
          <a:lstStyle/>
          <a:p>
            <a:pPr algn="ctr">
              <a:lnSpc>
                <a:spcPts val="2799"/>
              </a:lnSpc>
              <a:spcBef>
                <a:spcPct val="0"/>
              </a:spcBef>
            </a:pPr>
            <a:r>
              <a:rPr lang="en-US" sz="1999">
                <a:solidFill>
                  <a:srgbClr val="000000"/>
                </a:solidFill>
                <a:latin typeface="Poppins"/>
                <a:ea typeface="Poppins"/>
                <a:cs typeface="Poppins"/>
                <a:sym typeface="Poppins"/>
              </a:rPr>
              <a:t>Measuring how easily customers use the system, using the ‘ease_of_use’ value (1–5).</a:t>
            </a:r>
          </a:p>
        </p:txBody>
      </p:sp>
      <p:sp>
        <p:nvSpPr>
          <p:cNvPr name="TextBox 27" id="27"/>
          <p:cNvSpPr txBox="true"/>
          <p:nvPr/>
        </p:nvSpPr>
        <p:spPr>
          <a:xfrm rot="0">
            <a:off x="1496145" y="7086069"/>
            <a:ext cx="4156025"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Net Promoter Score (NPS)</a:t>
            </a:r>
          </a:p>
        </p:txBody>
      </p:sp>
      <p:sp>
        <p:nvSpPr>
          <p:cNvPr name="TextBox 28" id="28"/>
          <p:cNvSpPr txBox="true"/>
          <p:nvPr/>
        </p:nvSpPr>
        <p:spPr>
          <a:xfrm rot="0">
            <a:off x="1496145" y="7603594"/>
            <a:ext cx="6177492" cy="711200"/>
          </a:xfrm>
          <a:prstGeom prst="rect">
            <a:avLst/>
          </a:prstGeom>
        </p:spPr>
        <p:txBody>
          <a:bodyPr anchor="t" rtlCol="false" tIns="0" lIns="0" bIns="0" rIns="0">
            <a:spAutoFit/>
          </a:bodyPr>
          <a:lstStyle/>
          <a:p>
            <a:pPr algn="just">
              <a:lnSpc>
                <a:spcPts val="2799"/>
              </a:lnSpc>
              <a:spcBef>
                <a:spcPct val="0"/>
              </a:spcBef>
            </a:pPr>
            <a:r>
              <a:rPr lang="en-US" sz="1999">
                <a:solidFill>
                  <a:srgbClr val="000000"/>
                </a:solidFill>
                <a:latin typeface="Poppins"/>
                <a:ea typeface="Poppins"/>
                <a:cs typeface="Poppins"/>
                <a:sym typeface="Poppins"/>
              </a:rPr>
              <a:t>Measuring customer loyalty based on 'likelihood to recommend’ (1-10), with categories:</a:t>
            </a:r>
          </a:p>
        </p:txBody>
      </p:sp>
      <p:sp>
        <p:nvSpPr>
          <p:cNvPr name="TextBox 29" id="29"/>
          <p:cNvSpPr txBox="true"/>
          <p:nvPr/>
        </p:nvSpPr>
        <p:spPr>
          <a:xfrm rot="0">
            <a:off x="1377547" y="8438619"/>
            <a:ext cx="2299246" cy="1063625"/>
          </a:xfrm>
          <a:prstGeom prst="rect">
            <a:avLst/>
          </a:prstGeom>
        </p:spPr>
        <p:txBody>
          <a:bodyPr anchor="t" rtlCol="false" tIns="0" lIns="0" bIns="0" rIns="0">
            <a:spAutoFit/>
          </a:bodyPr>
          <a:lstStyle/>
          <a:p>
            <a:pPr algn="just" marL="431799" indent="-215899" lvl="1">
              <a:lnSpc>
                <a:spcPts val="2799"/>
              </a:lnSpc>
              <a:buFont typeface="Arial"/>
              <a:buChar char="•"/>
            </a:pPr>
            <a:r>
              <a:rPr lang="en-US" sz="1999">
                <a:solidFill>
                  <a:srgbClr val="000000"/>
                </a:solidFill>
                <a:latin typeface="Poppins"/>
                <a:ea typeface="Poppins"/>
                <a:cs typeface="Poppins"/>
                <a:sym typeface="Poppins"/>
              </a:rPr>
              <a:t>Promoter: 9–10</a:t>
            </a:r>
          </a:p>
          <a:p>
            <a:pPr algn="just" marL="431799" indent="-215899" lvl="1">
              <a:lnSpc>
                <a:spcPts val="2799"/>
              </a:lnSpc>
              <a:buFont typeface="Arial"/>
              <a:buChar char="•"/>
            </a:pPr>
            <a:r>
              <a:rPr lang="en-US" sz="1999">
                <a:solidFill>
                  <a:srgbClr val="000000"/>
                </a:solidFill>
                <a:latin typeface="Poppins"/>
                <a:ea typeface="Poppins"/>
                <a:cs typeface="Poppins"/>
                <a:sym typeface="Poppins"/>
              </a:rPr>
              <a:t>Passive: 7–8</a:t>
            </a:r>
          </a:p>
          <a:p>
            <a:pPr algn="just" marL="431799" indent="-215899" lvl="1">
              <a:lnSpc>
                <a:spcPts val="2799"/>
              </a:lnSpc>
              <a:buFont typeface="Arial"/>
              <a:buChar char="•"/>
            </a:pPr>
            <a:r>
              <a:rPr lang="en-US" sz="1999">
                <a:solidFill>
                  <a:srgbClr val="000000"/>
                </a:solidFill>
                <a:latin typeface="Poppins"/>
                <a:ea typeface="Poppins"/>
                <a:cs typeface="Poppins"/>
                <a:sym typeface="Poppins"/>
              </a:rPr>
              <a:t>Detractor: &lt; 7</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14585467" y="680697"/>
            <a:ext cx="2251784" cy="696006"/>
          </a:xfrm>
          <a:custGeom>
            <a:avLst/>
            <a:gdLst/>
            <a:ahLst/>
            <a:cxnLst/>
            <a:rect r="r" b="b" t="t" l="l"/>
            <a:pathLst>
              <a:path h="696006" w="2251784">
                <a:moveTo>
                  <a:pt x="0" y="0"/>
                </a:moveTo>
                <a:lnTo>
                  <a:pt x="2251784" y="0"/>
                </a:lnTo>
                <a:lnTo>
                  <a:pt x="2251784" y="696006"/>
                </a:lnTo>
                <a:lnTo>
                  <a:pt x="0" y="6960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172581" y="1529206"/>
            <a:ext cx="895459" cy="667117"/>
          </a:xfrm>
          <a:custGeom>
            <a:avLst/>
            <a:gdLst/>
            <a:ahLst/>
            <a:cxnLst/>
            <a:rect r="r" b="b" t="t" l="l"/>
            <a:pathLst>
              <a:path h="667117" w="895459">
                <a:moveTo>
                  <a:pt x="0" y="0"/>
                </a:moveTo>
                <a:lnTo>
                  <a:pt x="895459" y="0"/>
                </a:lnTo>
                <a:lnTo>
                  <a:pt x="895459" y="667117"/>
                </a:lnTo>
                <a:lnTo>
                  <a:pt x="0" y="667117"/>
                </a:lnTo>
                <a:lnTo>
                  <a:pt x="0" y="0"/>
                </a:lnTo>
                <a:close/>
              </a:path>
            </a:pathLst>
          </a:custGeom>
          <a:blipFill>
            <a:blip r:embed="rId5"/>
            <a:stretch>
              <a:fillRect l="0" t="0" r="0" b="0"/>
            </a:stretch>
          </a:blipFill>
        </p:spPr>
      </p:sp>
      <p:sp>
        <p:nvSpPr>
          <p:cNvPr name="Freeform 5" id="5"/>
          <p:cNvSpPr/>
          <p:nvPr/>
        </p:nvSpPr>
        <p:spPr>
          <a:xfrm flipH="false" flipV="false" rot="0">
            <a:off x="2172581" y="3555223"/>
            <a:ext cx="895459" cy="861269"/>
          </a:xfrm>
          <a:custGeom>
            <a:avLst/>
            <a:gdLst/>
            <a:ahLst/>
            <a:cxnLst/>
            <a:rect r="r" b="b" t="t" l="l"/>
            <a:pathLst>
              <a:path h="861269" w="895459">
                <a:moveTo>
                  <a:pt x="0" y="0"/>
                </a:moveTo>
                <a:lnTo>
                  <a:pt x="895459" y="0"/>
                </a:lnTo>
                <a:lnTo>
                  <a:pt x="895459" y="861269"/>
                </a:lnTo>
                <a:lnTo>
                  <a:pt x="0" y="8612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172581" y="5554320"/>
            <a:ext cx="832974" cy="810067"/>
          </a:xfrm>
          <a:custGeom>
            <a:avLst/>
            <a:gdLst/>
            <a:ahLst/>
            <a:cxnLst/>
            <a:rect r="r" b="b" t="t" l="l"/>
            <a:pathLst>
              <a:path h="810067" w="832974">
                <a:moveTo>
                  <a:pt x="0" y="0"/>
                </a:moveTo>
                <a:lnTo>
                  <a:pt x="832974" y="0"/>
                </a:lnTo>
                <a:lnTo>
                  <a:pt x="832974" y="810067"/>
                </a:lnTo>
                <a:lnTo>
                  <a:pt x="0" y="8100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1048101">
            <a:off x="1200894" y="9424280"/>
            <a:ext cx="1867173" cy="10762758"/>
            <a:chOff x="0" y="0"/>
            <a:chExt cx="491766" cy="2834636"/>
          </a:xfrm>
        </p:grpSpPr>
        <p:sp>
          <p:nvSpPr>
            <p:cNvPr name="Freeform 8" id="8"/>
            <p:cNvSpPr/>
            <p:nvPr/>
          </p:nvSpPr>
          <p:spPr>
            <a:xfrm flipH="false" flipV="false" rot="0">
              <a:off x="0" y="0"/>
              <a:ext cx="491766" cy="2834636"/>
            </a:xfrm>
            <a:custGeom>
              <a:avLst/>
              <a:gdLst/>
              <a:ahLst/>
              <a:cxnLst/>
              <a:rect r="r" b="b" t="t" l="l"/>
              <a:pathLst>
                <a:path h="2834636" w="491766">
                  <a:moveTo>
                    <a:pt x="245883" y="0"/>
                  </a:moveTo>
                  <a:lnTo>
                    <a:pt x="245883" y="0"/>
                  </a:lnTo>
                  <a:cubicBezTo>
                    <a:pt x="381680" y="0"/>
                    <a:pt x="491766" y="110086"/>
                    <a:pt x="491766" y="245883"/>
                  </a:cubicBezTo>
                  <a:lnTo>
                    <a:pt x="491766" y="2588753"/>
                  </a:lnTo>
                  <a:cubicBezTo>
                    <a:pt x="491766" y="2724550"/>
                    <a:pt x="381680" y="2834636"/>
                    <a:pt x="245883" y="2834636"/>
                  </a:cubicBezTo>
                  <a:lnTo>
                    <a:pt x="245883" y="2834636"/>
                  </a:lnTo>
                  <a:cubicBezTo>
                    <a:pt x="110086" y="2834636"/>
                    <a:pt x="0" y="2724550"/>
                    <a:pt x="0" y="2588753"/>
                  </a:cubicBezTo>
                  <a:lnTo>
                    <a:pt x="0" y="245883"/>
                  </a:lnTo>
                  <a:cubicBezTo>
                    <a:pt x="0" y="110086"/>
                    <a:pt x="110086" y="0"/>
                    <a:pt x="245883" y="0"/>
                  </a:cubicBezTo>
                  <a:close/>
                </a:path>
              </a:pathLst>
            </a:custGeom>
            <a:solidFill>
              <a:srgbClr val="91D7F1"/>
            </a:solidFill>
            <a:ln cap="rnd">
              <a:noFill/>
              <a:prstDash val="solid"/>
              <a:round/>
            </a:ln>
          </p:spPr>
        </p:sp>
        <p:sp>
          <p:nvSpPr>
            <p:cNvPr name="TextBox 9" id="9"/>
            <p:cNvSpPr txBox="true"/>
            <p:nvPr/>
          </p:nvSpPr>
          <p:spPr>
            <a:xfrm>
              <a:off x="0" y="-38100"/>
              <a:ext cx="491766" cy="287273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1048101">
            <a:off x="-985798" y="2105676"/>
            <a:ext cx="712000" cy="7196626"/>
            <a:chOff x="0" y="0"/>
            <a:chExt cx="187523" cy="1895408"/>
          </a:xfrm>
        </p:grpSpPr>
        <p:sp>
          <p:nvSpPr>
            <p:cNvPr name="Freeform 11" id="11"/>
            <p:cNvSpPr/>
            <p:nvPr/>
          </p:nvSpPr>
          <p:spPr>
            <a:xfrm flipH="false" flipV="false" rot="0">
              <a:off x="0" y="0"/>
              <a:ext cx="187523" cy="1895408"/>
            </a:xfrm>
            <a:custGeom>
              <a:avLst/>
              <a:gdLst/>
              <a:ahLst/>
              <a:cxnLst/>
              <a:rect r="r" b="b" t="t" l="l"/>
              <a:pathLst>
                <a:path h="1895408" w="187523">
                  <a:moveTo>
                    <a:pt x="93761" y="0"/>
                  </a:moveTo>
                  <a:lnTo>
                    <a:pt x="93761" y="0"/>
                  </a:lnTo>
                  <a:cubicBezTo>
                    <a:pt x="145544" y="0"/>
                    <a:pt x="187523" y="41978"/>
                    <a:pt x="187523" y="93761"/>
                  </a:cubicBezTo>
                  <a:lnTo>
                    <a:pt x="187523" y="1801646"/>
                  </a:lnTo>
                  <a:cubicBezTo>
                    <a:pt x="187523" y="1853429"/>
                    <a:pt x="145544" y="1895408"/>
                    <a:pt x="93761" y="1895408"/>
                  </a:cubicBezTo>
                  <a:lnTo>
                    <a:pt x="93761" y="1895408"/>
                  </a:lnTo>
                  <a:cubicBezTo>
                    <a:pt x="41978" y="1895408"/>
                    <a:pt x="0" y="1853429"/>
                    <a:pt x="0" y="1801646"/>
                  </a:cubicBezTo>
                  <a:lnTo>
                    <a:pt x="0" y="93761"/>
                  </a:lnTo>
                  <a:cubicBezTo>
                    <a:pt x="0" y="41978"/>
                    <a:pt x="41978" y="0"/>
                    <a:pt x="93761" y="0"/>
                  </a:cubicBezTo>
                  <a:close/>
                </a:path>
              </a:pathLst>
            </a:custGeom>
            <a:solidFill>
              <a:srgbClr val="91D7F1"/>
            </a:solidFill>
            <a:ln cap="rnd">
              <a:noFill/>
              <a:prstDash val="solid"/>
              <a:round/>
            </a:ln>
          </p:spPr>
        </p:sp>
        <p:sp>
          <p:nvSpPr>
            <p:cNvPr name="TextBox 12" id="12"/>
            <p:cNvSpPr txBox="true"/>
            <p:nvPr/>
          </p:nvSpPr>
          <p:spPr>
            <a:xfrm>
              <a:off x="0" y="-38100"/>
              <a:ext cx="187523" cy="1933508"/>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2172581" y="7602020"/>
            <a:ext cx="895459" cy="895459"/>
          </a:xfrm>
          <a:custGeom>
            <a:avLst/>
            <a:gdLst/>
            <a:ahLst/>
            <a:cxnLst/>
            <a:rect r="r" b="b" t="t" l="l"/>
            <a:pathLst>
              <a:path h="895459" w="895459">
                <a:moveTo>
                  <a:pt x="0" y="0"/>
                </a:moveTo>
                <a:lnTo>
                  <a:pt x="895459" y="0"/>
                </a:lnTo>
                <a:lnTo>
                  <a:pt x="895459" y="895459"/>
                </a:lnTo>
                <a:lnTo>
                  <a:pt x="0" y="89545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3653959" y="287577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5" id="15"/>
          <p:cNvSpPr txBox="true"/>
          <p:nvPr/>
        </p:nvSpPr>
        <p:spPr>
          <a:xfrm rot="0">
            <a:off x="4280684" y="554037"/>
            <a:ext cx="9726631" cy="854075"/>
          </a:xfrm>
          <a:prstGeom prst="rect">
            <a:avLst/>
          </a:prstGeom>
        </p:spPr>
        <p:txBody>
          <a:bodyPr anchor="t" rtlCol="false" tIns="0" lIns="0" bIns="0" rIns="0">
            <a:spAutoFit/>
          </a:bodyPr>
          <a:lstStyle/>
          <a:p>
            <a:pPr algn="l">
              <a:lnSpc>
                <a:spcPts val="5500"/>
              </a:lnSpc>
            </a:pPr>
            <a:r>
              <a:rPr lang="en-US" sz="5000" b="true">
                <a:solidFill>
                  <a:srgbClr val="000000"/>
                </a:solidFill>
                <a:latin typeface="Cooper Hewitt Bold"/>
                <a:ea typeface="Cooper Hewitt Bold"/>
                <a:cs typeface="Cooper Hewitt Bold"/>
                <a:sym typeface="Cooper Hewitt Bold"/>
              </a:rPr>
              <a:t>SENTIMENT ANALYSIS METHODS </a:t>
            </a:r>
          </a:p>
        </p:txBody>
      </p:sp>
      <p:sp>
        <p:nvSpPr>
          <p:cNvPr name="TextBox 16" id="16"/>
          <p:cNvSpPr txBox="true"/>
          <p:nvPr/>
        </p:nvSpPr>
        <p:spPr>
          <a:xfrm rot="0">
            <a:off x="3393136" y="1573762"/>
            <a:ext cx="2494508"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 Text Cleansing</a:t>
            </a:r>
          </a:p>
        </p:txBody>
      </p:sp>
      <p:sp>
        <p:nvSpPr>
          <p:cNvPr name="TextBox 17" id="17"/>
          <p:cNvSpPr txBox="true"/>
          <p:nvPr/>
        </p:nvSpPr>
        <p:spPr>
          <a:xfrm rot="0">
            <a:off x="3393136" y="2139173"/>
            <a:ext cx="6998643" cy="1416050"/>
          </a:xfrm>
          <a:prstGeom prst="rect">
            <a:avLst/>
          </a:prstGeom>
        </p:spPr>
        <p:txBody>
          <a:bodyPr anchor="t" rtlCol="false" tIns="0" lIns="0" bIns="0" rIns="0">
            <a:spAutoFit/>
          </a:bodyPr>
          <a:lstStyle/>
          <a:p>
            <a:pPr algn="just" marL="431799" indent="-215899" lvl="1">
              <a:lnSpc>
                <a:spcPts val="2799"/>
              </a:lnSpc>
              <a:buFont typeface="Arial"/>
              <a:buChar char="•"/>
            </a:pPr>
            <a:r>
              <a:rPr lang="en-US" sz="1999">
                <a:solidFill>
                  <a:srgbClr val="000000"/>
                </a:solidFill>
                <a:latin typeface="Poppins"/>
                <a:ea typeface="Poppins"/>
                <a:cs typeface="Poppins"/>
                <a:sym typeface="Poppins"/>
              </a:rPr>
              <a:t>Convert text to lowercase</a:t>
            </a:r>
          </a:p>
          <a:p>
            <a:pPr algn="just" marL="431799" indent="-215899" lvl="1">
              <a:lnSpc>
                <a:spcPts val="2799"/>
              </a:lnSpc>
              <a:buFont typeface="Arial"/>
              <a:buChar char="•"/>
            </a:pPr>
            <a:r>
              <a:rPr lang="en-US" sz="1999">
                <a:solidFill>
                  <a:srgbClr val="000000"/>
                </a:solidFill>
                <a:latin typeface="Poppins"/>
                <a:ea typeface="Poppins"/>
                <a:cs typeface="Poppins"/>
                <a:sym typeface="Poppins"/>
              </a:rPr>
              <a:t>Removing double spaces, numbers, and symbols</a:t>
            </a:r>
          </a:p>
          <a:p>
            <a:pPr algn="just" marL="431799" indent="-215899" lvl="1">
              <a:lnSpc>
                <a:spcPts val="2799"/>
              </a:lnSpc>
              <a:buFont typeface="Arial"/>
              <a:buChar char="•"/>
            </a:pPr>
            <a:r>
              <a:rPr lang="en-US" sz="1999">
                <a:solidFill>
                  <a:srgbClr val="000000"/>
                </a:solidFill>
                <a:latin typeface="Poppins"/>
                <a:ea typeface="Poppins"/>
                <a:cs typeface="Poppins"/>
                <a:sym typeface="Poppins"/>
              </a:rPr>
              <a:t>Removing URLs, mentions, and irrelevant characters</a:t>
            </a:r>
          </a:p>
          <a:p>
            <a:pPr algn="just" marL="431799" indent="-215899" lvl="1">
              <a:lnSpc>
                <a:spcPts val="2799"/>
              </a:lnSpc>
              <a:buFont typeface="Arial"/>
              <a:buChar char="•"/>
            </a:pPr>
            <a:r>
              <a:rPr lang="en-US" sz="1999">
                <a:solidFill>
                  <a:srgbClr val="000000"/>
                </a:solidFill>
                <a:latin typeface="Poppins"/>
                <a:ea typeface="Poppins"/>
                <a:cs typeface="Poppins"/>
                <a:sym typeface="Poppins"/>
              </a:rPr>
              <a:t>Deleting empty or meaningless text</a:t>
            </a:r>
          </a:p>
        </p:txBody>
      </p:sp>
      <p:sp>
        <p:nvSpPr>
          <p:cNvPr name="TextBox 18" id="18"/>
          <p:cNvSpPr txBox="true"/>
          <p:nvPr/>
        </p:nvSpPr>
        <p:spPr>
          <a:xfrm rot="0">
            <a:off x="3393136" y="3731857"/>
            <a:ext cx="4816673"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Tokenization &amp; Normalization</a:t>
            </a:r>
          </a:p>
        </p:txBody>
      </p:sp>
      <p:sp>
        <p:nvSpPr>
          <p:cNvPr name="TextBox 19" id="19"/>
          <p:cNvSpPr txBox="true"/>
          <p:nvPr/>
        </p:nvSpPr>
        <p:spPr>
          <a:xfrm rot="0">
            <a:off x="3364561" y="4233010"/>
            <a:ext cx="8952607" cy="1416050"/>
          </a:xfrm>
          <a:prstGeom prst="rect">
            <a:avLst/>
          </a:prstGeom>
        </p:spPr>
        <p:txBody>
          <a:bodyPr anchor="t" rtlCol="false" tIns="0" lIns="0" bIns="0" rIns="0">
            <a:spAutoFit/>
          </a:bodyPr>
          <a:lstStyle/>
          <a:p>
            <a:pPr algn="just" marL="431799" indent="-215899" lvl="1">
              <a:lnSpc>
                <a:spcPts val="2799"/>
              </a:lnSpc>
              <a:buFont typeface="Arial"/>
              <a:buChar char="•"/>
            </a:pPr>
            <a:r>
              <a:rPr lang="en-US" sz="1999">
                <a:solidFill>
                  <a:srgbClr val="000000"/>
                </a:solidFill>
                <a:latin typeface="Poppins"/>
                <a:ea typeface="Poppins"/>
                <a:cs typeface="Poppins"/>
                <a:sym typeface="Poppins"/>
              </a:rPr>
              <a:t>Breaking down the sentence into tokens (words per line)</a:t>
            </a:r>
          </a:p>
          <a:p>
            <a:pPr algn="just" marL="431799" indent="-215899" lvl="1">
              <a:lnSpc>
                <a:spcPts val="2799"/>
              </a:lnSpc>
              <a:buFont typeface="Arial"/>
              <a:buChar char="•"/>
            </a:pPr>
            <a:r>
              <a:rPr lang="en-US" sz="1999">
                <a:solidFill>
                  <a:srgbClr val="000000"/>
                </a:solidFill>
                <a:latin typeface="Poppins"/>
                <a:ea typeface="Poppins"/>
                <a:cs typeface="Poppins"/>
                <a:sym typeface="Poppins"/>
              </a:rPr>
              <a:t>Deleting tokens less than 3 characters</a:t>
            </a:r>
          </a:p>
          <a:p>
            <a:pPr algn="just" marL="431799" indent="-215899" lvl="1">
              <a:lnSpc>
                <a:spcPts val="2799"/>
              </a:lnSpc>
              <a:buFont typeface="Arial"/>
              <a:buChar char="•"/>
            </a:pPr>
            <a:r>
              <a:rPr lang="en-US" sz="1999">
                <a:solidFill>
                  <a:srgbClr val="000000"/>
                </a:solidFill>
                <a:latin typeface="Poppins"/>
                <a:ea typeface="Poppins"/>
                <a:cs typeface="Poppins"/>
                <a:sym typeface="Poppins"/>
              </a:rPr>
              <a:t>Removing numbers, noise, and common stopwords</a:t>
            </a:r>
          </a:p>
          <a:p>
            <a:pPr algn="just" marL="431799" indent="-215899" lvl="1">
              <a:lnSpc>
                <a:spcPts val="2799"/>
              </a:lnSpc>
              <a:buFont typeface="Arial"/>
              <a:buChar char="•"/>
            </a:pPr>
            <a:r>
              <a:rPr lang="en-US" sz="1999">
                <a:solidFill>
                  <a:srgbClr val="000000"/>
                </a:solidFill>
                <a:latin typeface="Poppins"/>
                <a:ea typeface="Poppins"/>
                <a:cs typeface="Poppins"/>
                <a:sym typeface="Poppins"/>
              </a:rPr>
              <a:t>Removing brand names (Zendesk, Freshdesk, Zoho) to prevent bias</a:t>
            </a:r>
          </a:p>
        </p:txBody>
      </p:sp>
      <p:sp>
        <p:nvSpPr>
          <p:cNvPr name="TextBox 20" id="20"/>
          <p:cNvSpPr txBox="true"/>
          <p:nvPr/>
        </p:nvSpPr>
        <p:spPr>
          <a:xfrm rot="0">
            <a:off x="3393136" y="6223735"/>
            <a:ext cx="7564041" cy="358775"/>
          </a:xfrm>
          <a:prstGeom prst="rect">
            <a:avLst/>
          </a:prstGeom>
        </p:spPr>
        <p:txBody>
          <a:bodyPr anchor="t" rtlCol="false" tIns="0" lIns="0" bIns="0" rIns="0">
            <a:spAutoFit/>
          </a:bodyPr>
          <a:lstStyle/>
          <a:p>
            <a:pPr algn="ctr">
              <a:lnSpc>
                <a:spcPts val="2799"/>
              </a:lnSpc>
              <a:spcBef>
                <a:spcPct val="0"/>
              </a:spcBef>
            </a:pPr>
            <a:r>
              <a:rPr lang="en-US" sz="1999">
                <a:solidFill>
                  <a:srgbClr val="000000"/>
                </a:solidFill>
                <a:latin typeface="Poppins"/>
                <a:ea typeface="Poppins"/>
                <a:cs typeface="Poppins"/>
                <a:sym typeface="Poppins"/>
              </a:rPr>
              <a:t>Using a sentiment scoring library (Vader) to categorize into:</a:t>
            </a:r>
          </a:p>
        </p:txBody>
      </p:sp>
      <p:sp>
        <p:nvSpPr>
          <p:cNvPr name="TextBox 21" id="21"/>
          <p:cNvSpPr txBox="true"/>
          <p:nvPr/>
        </p:nvSpPr>
        <p:spPr>
          <a:xfrm rot="0">
            <a:off x="3393136" y="8294224"/>
            <a:ext cx="7937153" cy="358775"/>
          </a:xfrm>
          <a:prstGeom prst="rect">
            <a:avLst/>
          </a:prstGeom>
        </p:spPr>
        <p:txBody>
          <a:bodyPr anchor="t" rtlCol="false" tIns="0" lIns="0" bIns="0" rIns="0">
            <a:spAutoFit/>
          </a:bodyPr>
          <a:lstStyle/>
          <a:p>
            <a:pPr algn="ctr">
              <a:lnSpc>
                <a:spcPts val="2799"/>
              </a:lnSpc>
              <a:spcBef>
                <a:spcPct val="0"/>
              </a:spcBef>
            </a:pPr>
            <a:r>
              <a:rPr lang="en-US" sz="1999">
                <a:solidFill>
                  <a:srgbClr val="000000"/>
                </a:solidFill>
                <a:latin typeface="Poppins"/>
                <a:ea typeface="Poppins"/>
                <a:cs typeface="Poppins"/>
                <a:sym typeface="Poppins"/>
              </a:rPr>
              <a:t>Combi</a:t>
            </a:r>
            <a:r>
              <a:rPr lang="en-US" sz="1999">
                <a:solidFill>
                  <a:srgbClr val="000000"/>
                </a:solidFill>
                <a:latin typeface="Poppins"/>
                <a:ea typeface="Poppins"/>
                <a:cs typeface="Poppins"/>
                <a:sym typeface="Poppins"/>
              </a:rPr>
              <a:t>ning words based on frequency to create a word cloud: </a:t>
            </a:r>
          </a:p>
        </p:txBody>
      </p:sp>
      <p:sp>
        <p:nvSpPr>
          <p:cNvPr name="TextBox 22" id="22"/>
          <p:cNvSpPr txBox="true"/>
          <p:nvPr/>
        </p:nvSpPr>
        <p:spPr>
          <a:xfrm rot="0">
            <a:off x="3393136" y="5705354"/>
            <a:ext cx="4022675"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Sentiment Classification</a:t>
            </a:r>
          </a:p>
        </p:txBody>
      </p:sp>
      <p:sp>
        <p:nvSpPr>
          <p:cNvPr name="TextBox 23" id="23"/>
          <p:cNvSpPr txBox="true"/>
          <p:nvPr/>
        </p:nvSpPr>
        <p:spPr>
          <a:xfrm rot="0">
            <a:off x="3364561" y="6658710"/>
            <a:ext cx="1507778" cy="1044575"/>
          </a:xfrm>
          <a:prstGeom prst="rect">
            <a:avLst/>
          </a:prstGeom>
        </p:spPr>
        <p:txBody>
          <a:bodyPr anchor="t" rtlCol="false" tIns="0" lIns="0" bIns="0" rIns="0">
            <a:spAutoFit/>
          </a:bodyPr>
          <a:lstStyle/>
          <a:p>
            <a:pPr algn="just" marL="431799" indent="-215899" lvl="1">
              <a:lnSpc>
                <a:spcPts val="2799"/>
              </a:lnSpc>
              <a:buFont typeface="Arial"/>
              <a:buChar char="•"/>
            </a:pPr>
            <a:r>
              <a:rPr lang="en-US" sz="1999">
                <a:solidFill>
                  <a:srgbClr val="000000"/>
                </a:solidFill>
                <a:latin typeface="Canva Sans"/>
                <a:ea typeface="Canva Sans"/>
                <a:cs typeface="Canva Sans"/>
                <a:sym typeface="Canva Sans"/>
              </a:rPr>
              <a:t>Positive</a:t>
            </a:r>
          </a:p>
          <a:p>
            <a:pPr algn="just" marL="431799" indent="-215899" lvl="1">
              <a:lnSpc>
                <a:spcPts val="2799"/>
              </a:lnSpc>
              <a:buFont typeface="Arial"/>
              <a:buChar char="•"/>
            </a:pPr>
            <a:r>
              <a:rPr lang="en-US" sz="1999">
                <a:solidFill>
                  <a:srgbClr val="000000"/>
                </a:solidFill>
                <a:latin typeface="Canva Sans"/>
                <a:ea typeface="Canva Sans"/>
                <a:cs typeface="Canva Sans"/>
                <a:sym typeface="Canva Sans"/>
              </a:rPr>
              <a:t>Neutral</a:t>
            </a:r>
          </a:p>
          <a:p>
            <a:pPr algn="just" marL="431799" indent="-215899" lvl="1">
              <a:lnSpc>
                <a:spcPts val="2799"/>
              </a:lnSpc>
              <a:buFont typeface="Arial"/>
              <a:buChar char="•"/>
            </a:pPr>
            <a:r>
              <a:rPr lang="en-US" sz="1999">
                <a:solidFill>
                  <a:srgbClr val="000000"/>
                </a:solidFill>
                <a:latin typeface="Canva Sans"/>
                <a:ea typeface="Canva Sans"/>
                <a:cs typeface="Canva Sans"/>
                <a:sym typeface="Canva Sans"/>
              </a:rPr>
              <a:t>Negative</a:t>
            </a:r>
          </a:p>
        </p:txBody>
      </p:sp>
      <p:sp>
        <p:nvSpPr>
          <p:cNvPr name="TextBox 24" id="24"/>
          <p:cNvSpPr txBox="true"/>
          <p:nvPr/>
        </p:nvSpPr>
        <p:spPr>
          <a:xfrm rot="0">
            <a:off x="3393136" y="7795749"/>
            <a:ext cx="4884986"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Word Frequency &amp; Wordcloud</a:t>
            </a:r>
          </a:p>
        </p:txBody>
      </p:sp>
      <p:sp>
        <p:nvSpPr>
          <p:cNvPr name="TextBox 25" id="25"/>
          <p:cNvSpPr txBox="true"/>
          <p:nvPr/>
        </p:nvSpPr>
        <p:spPr>
          <a:xfrm rot="0">
            <a:off x="3364561" y="8776825"/>
            <a:ext cx="8438406" cy="1009015"/>
          </a:xfrm>
          <a:prstGeom prst="rect">
            <a:avLst/>
          </a:prstGeom>
        </p:spPr>
        <p:txBody>
          <a:bodyPr anchor="t" rtlCol="false" tIns="0" lIns="0" bIns="0" rIns="0">
            <a:spAutoFit/>
          </a:bodyPr>
          <a:lstStyle/>
          <a:p>
            <a:pPr algn="just" marL="410209" indent="-205105" lvl="1">
              <a:lnSpc>
                <a:spcPts val="2659"/>
              </a:lnSpc>
              <a:buFont typeface="Arial"/>
              <a:buChar char="•"/>
            </a:pPr>
            <a:r>
              <a:rPr lang="en-US" sz="1899">
                <a:solidFill>
                  <a:srgbClr val="000000"/>
                </a:solidFill>
                <a:latin typeface="Poppins"/>
                <a:ea typeface="Poppins"/>
                <a:cs typeface="Poppins"/>
                <a:sym typeface="Poppins"/>
              </a:rPr>
              <a:t>Calculating the frequency of word occurrences for each sentiment</a:t>
            </a:r>
          </a:p>
          <a:p>
            <a:pPr algn="just" marL="410209" indent="-205105" lvl="1">
              <a:lnSpc>
                <a:spcPts val="2659"/>
              </a:lnSpc>
              <a:buFont typeface="Arial"/>
              <a:buChar char="•"/>
            </a:pPr>
            <a:r>
              <a:rPr lang="en-US" sz="1899">
                <a:solidFill>
                  <a:srgbClr val="000000"/>
                </a:solidFill>
                <a:latin typeface="Poppins"/>
                <a:ea typeface="Poppins"/>
                <a:cs typeface="Poppins"/>
                <a:sym typeface="Poppins"/>
              </a:rPr>
              <a:t>Choosing the top 50 words per category</a:t>
            </a:r>
          </a:p>
          <a:p>
            <a:pPr algn="just" marL="410209" indent="-205105" lvl="1">
              <a:lnSpc>
                <a:spcPts val="2659"/>
              </a:lnSpc>
              <a:buFont typeface="Arial"/>
              <a:buChar char="•"/>
            </a:pPr>
            <a:r>
              <a:rPr lang="en-US" sz="1899">
                <a:solidFill>
                  <a:srgbClr val="000000"/>
                </a:solidFill>
                <a:latin typeface="Poppins"/>
                <a:ea typeface="Poppins"/>
                <a:cs typeface="Poppins"/>
                <a:sym typeface="Poppins"/>
              </a:rPr>
              <a:t>Creating a word cloud to visualize customer perceptions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48101">
            <a:off x="-3801344" y="2649260"/>
            <a:ext cx="4278385" cy="10762758"/>
            <a:chOff x="0" y="0"/>
            <a:chExt cx="1126817" cy="2834636"/>
          </a:xfrm>
        </p:grpSpPr>
        <p:sp>
          <p:nvSpPr>
            <p:cNvPr name="Freeform 3" id="3"/>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4" id="4"/>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48101">
            <a:off x="17582300" y="-5381379"/>
            <a:ext cx="4278385" cy="10762758"/>
            <a:chOff x="0" y="0"/>
            <a:chExt cx="1126817" cy="2834636"/>
          </a:xfrm>
        </p:grpSpPr>
        <p:sp>
          <p:nvSpPr>
            <p:cNvPr name="Freeform 6" id="6"/>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7" id="7"/>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60340" y="9818566"/>
            <a:ext cx="19154589" cy="1210681"/>
            <a:chOff x="0" y="0"/>
            <a:chExt cx="5044830" cy="318862"/>
          </a:xfrm>
        </p:grpSpPr>
        <p:sp>
          <p:nvSpPr>
            <p:cNvPr name="Freeform 9" id="9"/>
            <p:cNvSpPr/>
            <p:nvPr/>
          </p:nvSpPr>
          <p:spPr>
            <a:xfrm flipH="false" flipV="false" rot="0">
              <a:off x="0" y="0"/>
              <a:ext cx="5044830" cy="318862"/>
            </a:xfrm>
            <a:custGeom>
              <a:avLst/>
              <a:gdLst/>
              <a:ahLst/>
              <a:cxnLst/>
              <a:rect r="r" b="b" t="t" l="l"/>
              <a:pathLst>
                <a:path h="318862" w="5044830">
                  <a:moveTo>
                    <a:pt x="0" y="0"/>
                  </a:moveTo>
                  <a:lnTo>
                    <a:pt x="5044830" y="0"/>
                  </a:lnTo>
                  <a:lnTo>
                    <a:pt x="5044830" y="318862"/>
                  </a:lnTo>
                  <a:lnTo>
                    <a:pt x="0" y="318862"/>
                  </a:lnTo>
                  <a:close/>
                </a:path>
              </a:pathLst>
            </a:custGeom>
            <a:solidFill>
              <a:srgbClr val="5A90BF"/>
            </a:solidFill>
          </p:spPr>
        </p:sp>
        <p:sp>
          <p:nvSpPr>
            <p:cNvPr name="TextBox 10" id="10"/>
            <p:cNvSpPr txBox="true"/>
            <p:nvPr/>
          </p:nvSpPr>
          <p:spPr>
            <a:xfrm>
              <a:off x="0" y="-38100"/>
              <a:ext cx="5044830" cy="356962"/>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748879" y="1313135"/>
            <a:ext cx="2251784" cy="696006"/>
          </a:xfrm>
          <a:custGeom>
            <a:avLst/>
            <a:gdLst/>
            <a:ahLst/>
            <a:cxnLst/>
            <a:rect r="r" b="b" t="t" l="l"/>
            <a:pathLst>
              <a:path h="696006" w="2251784">
                <a:moveTo>
                  <a:pt x="0" y="0"/>
                </a:moveTo>
                <a:lnTo>
                  <a:pt x="2251785" y="0"/>
                </a:lnTo>
                <a:lnTo>
                  <a:pt x="2251785" y="696006"/>
                </a:lnTo>
                <a:lnTo>
                  <a:pt x="0" y="6960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true" flipV="false" rot="0">
            <a:off x="16667952" y="8562294"/>
            <a:ext cx="2251784" cy="696006"/>
          </a:xfrm>
          <a:custGeom>
            <a:avLst/>
            <a:gdLst/>
            <a:ahLst/>
            <a:cxnLst/>
            <a:rect r="r" b="b" t="t" l="l"/>
            <a:pathLst>
              <a:path h="696006" w="2251784">
                <a:moveTo>
                  <a:pt x="2251785" y="0"/>
                </a:moveTo>
                <a:lnTo>
                  <a:pt x="0" y="0"/>
                </a:lnTo>
                <a:lnTo>
                  <a:pt x="0" y="696006"/>
                </a:lnTo>
                <a:lnTo>
                  <a:pt x="2251785" y="696006"/>
                </a:lnTo>
                <a:lnTo>
                  <a:pt x="225178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466623" y="3072395"/>
            <a:ext cx="3906977" cy="5337147"/>
          </a:xfrm>
          <a:custGeom>
            <a:avLst/>
            <a:gdLst/>
            <a:ahLst/>
            <a:cxnLst/>
            <a:rect r="r" b="b" t="t" l="l"/>
            <a:pathLst>
              <a:path h="5337147" w="3906977">
                <a:moveTo>
                  <a:pt x="0" y="0"/>
                </a:moveTo>
                <a:lnTo>
                  <a:pt x="3906977" y="0"/>
                </a:lnTo>
                <a:lnTo>
                  <a:pt x="3906977" y="5337147"/>
                </a:lnTo>
                <a:lnTo>
                  <a:pt x="0" y="5337147"/>
                </a:lnTo>
                <a:lnTo>
                  <a:pt x="0" y="0"/>
                </a:lnTo>
                <a:close/>
              </a:path>
            </a:pathLst>
          </a:custGeom>
          <a:blipFill>
            <a:blip r:embed="rId4"/>
            <a:stretch>
              <a:fillRect l="0" t="0" r="0" b="-33596"/>
            </a:stretch>
          </a:blipFill>
        </p:spPr>
      </p:sp>
      <p:sp>
        <p:nvSpPr>
          <p:cNvPr name="Freeform 14" id="14"/>
          <p:cNvSpPr/>
          <p:nvPr/>
        </p:nvSpPr>
        <p:spPr>
          <a:xfrm flipH="false" flipV="false" rot="-10800000">
            <a:off x="12127893" y="3943350"/>
            <a:ext cx="1338729" cy="256032"/>
          </a:xfrm>
          <a:custGeom>
            <a:avLst/>
            <a:gdLst/>
            <a:ahLst/>
            <a:cxnLst/>
            <a:rect r="r" b="b" t="t" l="l"/>
            <a:pathLst>
              <a:path h="256032" w="1338729">
                <a:moveTo>
                  <a:pt x="0" y="0"/>
                </a:moveTo>
                <a:lnTo>
                  <a:pt x="1338730" y="0"/>
                </a:lnTo>
                <a:lnTo>
                  <a:pt x="1338730" y="256032"/>
                </a:lnTo>
                <a:lnTo>
                  <a:pt x="0" y="2560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2091770" y="885825"/>
            <a:ext cx="14372257" cy="904875"/>
          </a:xfrm>
          <a:prstGeom prst="rect">
            <a:avLst/>
          </a:prstGeom>
        </p:spPr>
        <p:txBody>
          <a:bodyPr anchor="t" rtlCol="false" tIns="0" lIns="0" bIns="0" rIns="0">
            <a:spAutoFit/>
          </a:bodyPr>
          <a:lstStyle/>
          <a:p>
            <a:pPr algn="ctr">
              <a:lnSpc>
                <a:spcPts val="6000"/>
              </a:lnSpc>
            </a:pPr>
            <a:r>
              <a:rPr lang="en-US" b="true" sz="5000">
                <a:solidFill>
                  <a:srgbClr val="000000"/>
                </a:solidFill>
                <a:latin typeface="Cooper Hewitt Bold"/>
                <a:ea typeface="Cooper Hewitt Bold"/>
                <a:cs typeface="Cooper Hewitt Bold"/>
                <a:sym typeface="Cooper Hewitt Bold"/>
              </a:rPr>
              <a:t>CUSTOMER SATISFACTION METRICS OVERVIEW</a:t>
            </a:r>
          </a:p>
        </p:txBody>
      </p:sp>
      <p:grpSp>
        <p:nvGrpSpPr>
          <p:cNvPr name="Group 16" id="16"/>
          <p:cNvGrpSpPr/>
          <p:nvPr/>
        </p:nvGrpSpPr>
        <p:grpSpPr>
          <a:xfrm rot="0">
            <a:off x="742950" y="3072395"/>
            <a:ext cx="8061570" cy="5371524"/>
            <a:chOff x="0" y="0"/>
            <a:chExt cx="10748760" cy="7162033"/>
          </a:xfrm>
        </p:grpSpPr>
        <p:grpSp>
          <p:nvGrpSpPr>
            <p:cNvPr name="Group 17" id="17"/>
            <p:cNvGrpSpPr/>
            <p:nvPr/>
          </p:nvGrpSpPr>
          <p:grpSpPr>
            <a:xfrm rot="0">
              <a:off x="0" y="0"/>
              <a:ext cx="10748760" cy="7162033"/>
              <a:chOff x="0" y="0"/>
              <a:chExt cx="2123212" cy="1414722"/>
            </a:xfrm>
          </p:grpSpPr>
          <p:sp>
            <p:nvSpPr>
              <p:cNvPr name="Freeform 18" id="18"/>
              <p:cNvSpPr/>
              <p:nvPr/>
            </p:nvSpPr>
            <p:spPr>
              <a:xfrm flipH="false" flipV="false" rot="0">
                <a:off x="0" y="0"/>
                <a:ext cx="2123212" cy="1414722"/>
              </a:xfrm>
              <a:custGeom>
                <a:avLst/>
                <a:gdLst/>
                <a:ahLst/>
                <a:cxnLst/>
                <a:rect r="r" b="b" t="t" l="l"/>
                <a:pathLst>
                  <a:path h="1414722" w="2123212">
                    <a:moveTo>
                      <a:pt x="52819" y="0"/>
                    </a:moveTo>
                    <a:lnTo>
                      <a:pt x="2070393" y="0"/>
                    </a:lnTo>
                    <a:cubicBezTo>
                      <a:pt x="2099564" y="0"/>
                      <a:pt x="2123212" y="23648"/>
                      <a:pt x="2123212" y="52819"/>
                    </a:cubicBezTo>
                    <a:lnTo>
                      <a:pt x="2123212" y="1361903"/>
                    </a:lnTo>
                    <a:cubicBezTo>
                      <a:pt x="2123212" y="1375912"/>
                      <a:pt x="2117647" y="1389347"/>
                      <a:pt x="2107742" y="1399252"/>
                    </a:cubicBezTo>
                    <a:cubicBezTo>
                      <a:pt x="2097836" y="1409158"/>
                      <a:pt x="2084401" y="1414722"/>
                      <a:pt x="2070393" y="1414722"/>
                    </a:cubicBezTo>
                    <a:lnTo>
                      <a:pt x="52819" y="1414722"/>
                    </a:lnTo>
                    <a:cubicBezTo>
                      <a:pt x="38811" y="1414722"/>
                      <a:pt x="25376" y="1409158"/>
                      <a:pt x="15470" y="1399252"/>
                    </a:cubicBezTo>
                    <a:cubicBezTo>
                      <a:pt x="5565" y="1389347"/>
                      <a:pt x="0" y="1375912"/>
                      <a:pt x="0" y="1361903"/>
                    </a:cubicBezTo>
                    <a:lnTo>
                      <a:pt x="0" y="52819"/>
                    </a:lnTo>
                    <a:cubicBezTo>
                      <a:pt x="0" y="38811"/>
                      <a:pt x="5565" y="25376"/>
                      <a:pt x="15470" y="15470"/>
                    </a:cubicBezTo>
                    <a:cubicBezTo>
                      <a:pt x="25376" y="5565"/>
                      <a:pt x="38811" y="0"/>
                      <a:pt x="52819" y="0"/>
                    </a:cubicBezTo>
                    <a:close/>
                  </a:path>
                </a:pathLst>
              </a:custGeom>
              <a:solidFill>
                <a:srgbClr val="5A90BF"/>
              </a:solidFill>
            </p:spPr>
          </p:sp>
          <p:sp>
            <p:nvSpPr>
              <p:cNvPr name="TextBox 19" id="19"/>
              <p:cNvSpPr txBox="true"/>
              <p:nvPr/>
            </p:nvSpPr>
            <p:spPr>
              <a:xfrm>
                <a:off x="0" y="-38100"/>
                <a:ext cx="2123212" cy="1452822"/>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632274" y="486417"/>
              <a:ext cx="9452324" cy="6124575"/>
            </a:xfrm>
            <a:prstGeom prst="rect">
              <a:avLst/>
            </a:prstGeom>
          </p:spPr>
          <p:txBody>
            <a:bodyPr anchor="t" rtlCol="false" tIns="0" lIns="0" bIns="0" rIns="0">
              <a:spAutoFit/>
            </a:bodyPr>
            <a:lstStyle/>
            <a:p>
              <a:pPr algn="just">
                <a:lnSpc>
                  <a:spcPts val="3000"/>
                </a:lnSpc>
              </a:pPr>
              <a:r>
                <a:rPr lang="en-US" sz="2500" b="true">
                  <a:solidFill>
                    <a:srgbClr val="FFFFFF"/>
                  </a:solidFill>
                  <a:latin typeface="Poppins Medium"/>
                  <a:ea typeface="Poppins Medium"/>
                  <a:cs typeface="Poppins Medium"/>
                  <a:sym typeface="Poppins Medium"/>
                </a:rPr>
                <a:t>The overall customer satisfaction metrics indicate strong performance across key areas. The CSAT score of 91.86% shows that most users were satisfied with the system experience, while the CES score of 90.07% reflects that users found the system easy to use with minimal effort. The Net Promoter Score (NPS) of 14.04% indicates moderate advocacy, suggesting that although satisfaction is high, there is still room to increase user loyalty. These metrics were derived from 769 valid survey responses.</a:t>
              </a:r>
            </a:p>
          </p:txBody>
        </p:sp>
      </p:grpSp>
      <p:sp>
        <p:nvSpPr>
          <p:cNvPr name="Freeform 21" id="21"/>
          <p:cNvSpPr/>
          <p:nvPr/>
        </p:nvSpPr>
        <p:spPr>
          <a:xfrm flipH="false" flipV="false" rot="-10800000">
            <a:off x="12127893" y="5612953"/>
            <a:ext cx="1338729" cy="256032"/>
          </a:xfrm>
          <a:custGeom>
            <a:avLst/>
            <a:gdLst/>
            <a:ahLst/>
            <a:cxnLst/>
            <a:rect r="r" b="b" t="t" l="l"/>
            <a:pathLst>
              <a:path h="256032" w="1338729">
                <a:moveTo>
                  <a:pt x="0" y="0"/>
                </a:moveTo>
                <a:lnTo>
                  <a:pt x="1338730" y="0"/>
                </a:lnTo>
                <a:lnTo>
                  <a:pt x="1338730" y="256032"/>
                </a:lnTo>
                <a:lnTo>
                  <a:pt x="0" y="2560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10800000">
            <a:off x="12127893" y="7451278"/>
            <a:ext cx="1338729" cy="256032"/>
          </a:xfrm>
          <a:custGeom>
            <a:avLst/>
            <a:gdLst/>
            <a:ahLst/>
            <a:cxnLst/>
            <a:rect r="r" b="b" t="t" l="l"/>
            <a:pathLst>
              <a:path h="256032" w="1338729">
                <a:moveTo>
                  <a:pt x="0" y="0"/>
                </a:moveTo>
                <a:lnTo>
                  <a:pt x="1338730" y="0"/>
                </a:lnTo>
                <a:lnTo>
                  <a:pt x="1338730" y="256032"/>
                </a:lnTo>
                <a:lnTo>
                  <a:pt x="0" y="2560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3" id="23"/>
          <p:cNvGrpSpPr/>
          <p:nvPr/>
        </p:nvGrpSpPr>
        <p:grpSpPr>
          <a:xfrm rot="0">
            <a:off x="9794694" y="3679194"/>
            <a:ext cx="2085975" cy="742950"/>
            <a:chOff x="0" y="0"/>
            <a:chExt cx="549393" cy="195674"/>
          </a:xfrm>
        </p:grpSpPr>
        <p:sp>
          <p:nvSpPr>
            <p:cNvPr name="Freeform 24" id="24"/>
            <p:cNvSpPr/>
            <p:nvPr/>
          </p:nvSpPr>
          <p:spPr>
            <a:xfrm flipH="false" flipV="false" rot="0">
              <a:off x="0" y="0"/>
              <a:ext cx="549393" cy="195674"/>
            </a:xfrm>
            <a:custGeom>
              <a:avLst/>
              <a:gdLst/>
              <a:ahLst/>
              <a:cxnLst/>
              <a:rect r="r" b="b" t="t" l="l"/>
              <a:pathLst>
                <a:path h="195674" w="549393">
                  <a:moveTo>
                    <a:pt x="96497" y="0"/>
                  </a:moveTo>
                  <a:lnTo>
                    <a:pt x="452896" y="0"/>
                  </a:lnTo>
                  <a:cubicBezTo>
                    <a:pt x="506190" y="0"/>
                    <a:pt x="549393" y="43203"/>
                    <a:pt x="549393" y="96497"/>
                  </a:cubicBezTo>
                  <a:lnTo>
                    <a:pt x="549393" y="99177"/>
                  </a:lnTo>
                  <a:cubicBezTo>
                    <a:pt x="549393" y="152471"/>
                    <a:pt x="506190" y="195674"/>
                    <a:pt x="452896" y="195674"/>
                  </a:cubicBezTo>
                  <a:lnTo>
                    <a:pt x="96497" y="195674"/>
                  </a:lnTo>
                  <a:cubicBezTo>
                    <a:pt x="43203" y="195674"/>
                    <a:pt x="0" y="152471"/>
                    <a:pt x="0" y="99177"/>
                  </a:cubicBezTo>
                  <a:lnTo>
                    <a:pt x="0" y="96497"/>
                  </a:lnTo>
                  <a:cubicBezTo>
                    <a:pt x="0" y="43203"/>
                    <a:pt x="43203" y="0"/>
                    <a:pt x="96497" y="0"/>
                  </a:cubicBezTo>
                  <a:close/>
                </a:path>
              </a:pathLst>
            </a:custGeom>
            <a:solidFill>
              <a:srgbClr val="FAD431"/>
            </a:solidFill>
            <a:ln w="38100" cap="rnd">
              <a:solidFill>
                <a:srgbClr val="000000"/>
              </a:solidFill>
              <a:prstDash val="solid"/>
              <a:round/>
            </a:ln>
          </p:spPr>
        </p:sp>
        <p:sp>
          <p:nvSpPr>
            <p:cNvPr name="TextBox 25" id="25"/>
            <p:cNvSpPr txBox="true"/>
            <p:nvPr/>
          </p:nvSpPr>
          <p:spPr>
            <a:xfrm>
              <a:off x="0" y="-38100"/>
              <a:ext cx="549393" cy="233774"/>
            </a:xfrm>
            <a:prstGeom prst="rect">
              <a:avLst/>
            </a:prstGeom>
          </p:spPr>
          <p:txBody>
            <a:bodyPr anchor="ctr" rtlCol="false" tIns="50800" lIns="50800" bIns="50800" rIns="50800"/>
            <a:lstStyle/>
            <a:p>
              <a:pPr algn="ctr">
                <a:lnSpc>
                  <a:spcPts val="2799"/>
                </a:lnSpc>
              </a:pPr>
              <a:r>
                <a:rPr lang="en-US" b="true" sz="1999">
                  <a:solidFill>
                    <a:srgbClr val="000000"/>
                  </a:solidFill>
                  <a:latin typeface="Canva Sans Bold"/>
                  <a:ea typeface="Canva Sans Bold"/>
                  <a:cs typeface="Canva Sans Bold"/>
                  <a:sym typeface="Canva Sans Bold"/>
                </a:rPr>
                <a:t>EXCELLENT</a:t>
              </a:r>
            </a:p>
          </p:txBody>
        </p:sp>
      </p:grpSp>
      <p:grpSp>
        <p:nvGrpSpPr>
          <p:cNvPr name="Group 26" id="26"/>
          <p:cNvGrpSpPr/>
          <p:nvPr/>
        </p:nvGrpSpPr>
        <p:grpSpPr>
          <a:xfrm rot="0">
            <a:off x="9794694" y="5348797"/>
            <a:ext cx="2085975" cy="742950"/>
            <a:chOff x="0" y="0"/>
            <a:chExt cx="549393" cy="195674"/>
          </a:xfrm>
        </p:grpSpPr>
        <p:sp>
          <p:nvSpPr>
            <p:cNvPr name="Freeform 27" id="27"/>
            <p:cNvSpPr/>
            <p:nvPr/>
          </p:nvSpPr>
          <p:spPr>
            <a:xfrm flipH="false" flipV="false" rot="0">
              <a:off x="0" y="0"/>
              <a:ext cx="549393" cy="195674"/>
            </a:xfrm>
            <a:custGeom>
              <a:avLst/>
              <a:gdLst/>
              <a:ahLst/>
              <a:cxnLst/>
              <a:rect r="r" b="b" t="t" l="l"/>
              <a:pathLst>
                <a:path h="195674" w="549393">
                  <a:moveTo>
                    <a:pt x="96497" y="0"/>
                  </a:moveTo>
                  <a:lnTo>
                    <a:pt x="452896" y="0"/>
                  </a:lnTo>
                  <a:cubicBezTo>
                    <a:pt x="506190" y="0"/>
                    <a:pt x="549393" y="43203"/>
                    <a:pt x="549393" y="96497"/>
                  </a:cubicBezTo>
                  <a:lnTo>
                    <a:pt x="549393" y="99177"/>
                  </a:lnTo>
                  <a:cubicBezTo>
                    <a:pt x="549393" y="152471"/>
                    <a:pt x="506190" y="195674"/>
                    <a:pt x="452896" y="195674"/>
                  </a:cubicBezTo>
                  <a:lnTo>
                    <a:pt x="96497" y="195674"/>
                  </a:lnTo>
                  <a:cubicBezTo>
                    <a:pt x="43203" y="195674"/>
                    <a:pt x="0" y="152471"/>
                    <a:pt x="0" y="99177"/>
                  </a:cubicBezTo>
                  <a:lnTo>
                    <a:pt x="0" y="96497"/>
                  </a:lnTo>
                  <a:cubicBezTo>
                    <a:pt x="0" y="43203"/>
                    <a:pt x="43203" y="0"/>
                    <a:pt x="96497" y="0"/>
                  </a:cubicBezTo>
                  <a:close/>
                </a:path>
              </a:pathLst>
            </a:custGeom>
            <a:solidFill>
              <a:srgbClr val="FAD431"/>
            </a:solidFill>
            <a:ln w="38100" cap="rnd">
              <a:solidFill>
                <a:srgbClr val="000000"/>
              </a:solidFill>
              <a:prstDash val="solid"/>
              <a:round/>
            </a:ln>
          </p:spPr>
        </p:sp>
        <p:sp>
          <p:nvSpPr>
            <p:cNvPr name="TextBox 28" id="28"/>
            <p:cNvSpPr txBox="true"/>
            <p:nvPr/>
          </p:nvSpPr>
          <p:spPr>
            <a:xfrm>
              <a:off x="0" y="-38100"/>
              <a:ext cx="549393" cy="233774"/>
            </a:xfrm>
            <a:prstGeom prst="rect">
              <a:avLst/>
            </a:prstGeom>
          </p:spPr>
          <p:txBody>
            <a:bodyPr anchor="ctr" rtlCol="false" tIns="50800" lIns="50800" bIns="50800" rIns="50800"/>
            <a:lstStyle/>
            <a:p>
              <a:pPr algn="ctr">
                <a:lnSpc>
                  <a:spcPts val="2799"/>
                </a:lnSpc>
              </a:pPr>
              <a:r>
                <a:rPr lang="en-US" b="true" sz="1999">
                  <a:solidFill>
                    <a:srgbClr val="000000"/>
                  </a:solidFill>
                  <a:latin typeface="Canva Sans Bold"/>
                  <a:ea typeface="Canva Sans Bold"/>
                  <a:cs typeface="Canva Sans Bold"/>
                  <a:sym typeface="Canva Sans Bold"/>
                </a:rPr>
                <a:t>EXCELLENT</a:t>
              </a:r>
            </a:p>
          </p:txBody>
        </p:sp>
      </p:grpSp>
      <p:grpSp>
        <p:nvGrpSpPr>
          <p:cNvPr name="Group 29" id="29"/>
          <p:cNvGrpSpPr/>
          <p:nvPr/>
        </p:nvGrpSpPr>
        <p:grpSpPr>
          <a:xfrm rot="0">
            <a:off x="9794694" y="7187122"/>
            <a:ext cx="2085975" cy="742950"/>
            <a:chOff x="0" y="0"/>
            <a:chExt cx="549393" cy="195674"/>
          </a:xfrm>
        </p:grpSpPr>
        <p:sp>
          <p:nvSpPr>
            <p:cNvPr name="Freeform 30" id="30"/>
            <p:cNvSpPr/>
            <p:nvPr/>
          </p:nvSpPr>
          <p:spPr>
            <a:xfrm flipH="false" flipV="false" rot="0">
              <a:off x="0" y="0"/>
              <a:ext cx="549393" cy="195674"/>
            </a:xfrm>
            <a:custGeom>
              <a:avLst/>
              <a:gdLst/>
              <a:ahLst/>
              <a:cxnLst/>
              <a:rect r="r" b="b" t="t" l="l"/>
              <a:pathLst>
                <a:path h="195674" w="549393">
                  <a:moveTo>
                    <a:pt x="96497" y="0"/>
                  </a:moveTo>
                  <a:lnTo>
                    <a:pt x="452896" y="0"/>
                  </a:lnTo>
                  <a:cubicBezTo>
                    <a:pt x="506190" y="0"/>
                    <a:pt x="549393" y="43203"/>
                    <a:pt x="549393" y="96497"/>
                  </a:cubicBezTo>
                  <a:lnTo>
                    <a:pt x="549393" y="99177"/>
                  </a:lnTo>
                  <a:cubicBezTo>
                    <a:pt x="549393" y="152471"/>
                    <a:pt x="506190" y="195674"/>
                    <a:pt x="452896" y="195674"/>
                  </a:cubicBezTo>
                  <a:lnTo>
                    <a:pt x="96497" y="195674"/>
                  </a:lnTo>
                  <a:cubicBezTo>
                    <a:pt x="43203" y="195674"/>
                    <a:pt x="0" y="152471"/>
                    <a:pt x="0" y="99177"/>
                  </a:cubicBezTo>
                  <a:lnTo>
                    <a:pt x="0" y="96497"/>
                  </a:lnTo>
                  <a:cubicBezTo>
                    <a:pt x="0" y="43203"/>
                    <a:pt x="43203" y="0"/>
                    <a:pt x="96497" y="0"/>
                  </a:cubicBezTo>
                  <a:close/>
                </a:path>
              </a:pathLst>
            </a:custGeom>
            <a:solidFill>
              <a:srgbClr val="B8690D"/>
            </a:solidFill>
            <a:ln w="38100" cap="rnd">
              <a:solidFill>
                <a:srgbClr val="000000"/>
              </a:solidFill>
              <a:prstDash val="solid"/>
              <a:round/>
            </a:ln>
          </p:spPr>
        </p:sp>
        <p:sp>
          <p:nvSpPr>
            <p:cNvPr name="TextBox 31" id="31"/>
            <p:cNvSpPr txBox="true"/>
            <p:nvPr/>
          </p:nvSpPr>
          <p:spPr>
            <a:xfrm>
              <a:off x="0" y="-38100"/>
              <a:ext cx="549393" cy="233774"/>
            </a:xfrm>
            <a:prstGeom prst="rect">
              <a:avLst/>
            </a:prstGeom>
          </p:spPr>
          <p:txBody>
            <a:bodyPr anchor="ctr" rtlCol="false" tIns="50800" lIns="50800" bIns="50800" rIns="50800"/>
            <a:lstStyle/>
            <a:p>
              <a:pPr algn="ctr">
                <a:lnSpc>
                  <a:spcPts val="2799"/>
                </a:lnSpc>
              </a:pPr>
              <a:r>
                <a:rPr lang="en-US" b="true" sz="1999">
                  <a:solidFill>
                    <a:srgbClr val="000000"/>
                  </a:solidFill>
                  <a:latin typeface="Canva Sans Bold"/>
                  <a:ea typeface="Canva Sans Bold"/>
                  <a:cs typeface="Canva Sans Bold"/>
                  <a:sym typeface="Canva Sans Bold"/>
                </a:rPr>
                <a:t>AVERAGE</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2612257">
            <a:off x="16805484" y="-5864842"/>
            <a:ext cx="4278385" cy="10762758"/>
            <a:chOff x="0" y="0"/>
            <a:chExt cx="1126817" cy="2834636"/>
          </a:xfrm>
        </p:grpSpPr>
        <p:sp>
          <p:nvSpPr>
            <p:cNvPr name="Freeform 4" id="4"/>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5" id="5"/>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610000">
            <a:off x="-2797464" y="-5866257"/>
            <a:ext cx="4278385" cy="10762758"/>
            <a:chOff x="0" y="0"/>
            <a:chExt cx="1126817" cy="2834636"/>
          </a:xfrm>
        </p:grpSpPr>
        <p:sp>
          <p:nvSpPr>
            <p:cNvPr name="Freeform 7" id="7"/>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8" id="8"/>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612257">
            <a:off x="14637178" y="-4917543"/>
            <a:ext cx="712000" cy="7196626"/>
            <a:chOff x="0" y="0"/>
            <a:chExt cx="187523" cy="1895408"/>
          </a:xfrm>
        </p:grpSpPr>
        <p:sp>
          <p:nvSpPr>
            <p:cNvPr name="Freeform 10" id="10"/>
            <p:cNvSpPr/>
            <p:nvPr/>
          </p:nvSpPr>
          <p:spPr>
            <a:xfrm flipH="false" flipV="false" rot="0">
              <a:off x="0" y="0"/>
              <a:ext cx="187523" cy="1895408"/>
            </a:xfrm>
            <a:custGeom>
              <a:avLst/>
              <a:gdLst/>
              <a:ahLst/>
              <a:cxnLst/>
              <a:rect r="r" b="b" t="t" l="l"/>
              <a:pathLst>
                <a:path h="1895408" w="187523">
                  <a:moveTo>
                    <a:pt x="93761" y="0"/>
                  </a:moveTo>
                  <a:lnTo>
                    <a:pt x="93761" y="0"/>
                  </a:lnTo>
                  <a:cubicBezTo>
                    <a:pt x="145544" y="0"/>
                    <a:pt x="187523" y="41978"/>
                    <a:pt x="187523" y="93761"/>
                  </a:cubicBezTo>
                  <a:lnTo>
                    <a:pt x="187523" y="1801646"/>
                  </a:lnTo>
                  <a:cubicBezTo>
                    <a:pt x="187523" y="1853429"/>
                    <a:pt x="145544" y="1895408"/>
                    <a:pt x="93761" y="1895408"/>
                  </a:cubicBezTo>
                  <a:lnTo>
                    <a:pt x="93761" y="1895408"/>
                  </a:lnTo>
                  <a:cubicBezTo>
                    <a:pt x="41978" y="1895408"/>
                    <a:pt x="0" y="1853429"/>
                    <a:pt x="0" y="1801646"/>
                  </a:cubicBezTo>
                  <a:lnTo>
                    <a:pt x="0" y="93761"/>
                  </a:lnTo>
                  <a:cubicBezTo>
                    <a:pt x="0" y="41978"/>
                    <a:pt x="41978" y="0"/>
                    <a:pt x="93761" y="0"/>
                  </a:cubicBezTo>
                  <a:close/>
                </a:path>
              </a:pathLst>
            </a:custGeom>
            <a:solidFill>
              <a:srgbClr val="91D7F1"/>
            </a:solidFill>
            <a:ln cap="rnd">
              <a:noFill/>
              <a:prstDash val="solid"/>
              <a:round/>
            </a:ln>
          </p:spPr>
        </p:sp>
        <p:sp>
          <p:nvSpPr>
            <p:cNvPr name="TextBox 11" id="11"/>
            <p:cNvSpPr txBox="true"/>
            <p:nvPr/>
          </p:nvSpPr>
          <p:spPr>
            <a:xfrm>
              <a:off x="0" y="-38100"/>
              <a:ext cx="187523" cy="1933508"/>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2610000">
            <a:off x="2897347" y="-4916085"/>
            <a:ext cx="712000" cy="7196626"/>
            <a:chOff x="0" y="0"/>
            <a:chExt cx="187523" cy="1895408"/>
          </a:xfrm>
        </p:grpSpPr>
        <p:sp>
          <p:nvSpPr>
            <p:cNvPr name="Freeform 13" id="13"/>
            <p:cNvSpPr/>
            <p:nvPr/>
          </p:nvSpPr>
          <p:spPr>
            <a:xfrm flipH="false" flipV="false" rot="0">
              <a:off x="0" y="0"/>
              <a:ext cx="187523" cy="1895408"/>
            </a:xfrm>
            <a:custGeom>
              <a:avLst/>
              <a:gdLst/>
              <a:ahLst/>
              <a:cxnLst/>
              <a:rect r="r" b="b" t="t" l="l"/>
              <a:pathLst>
                <a:path h="1895408" w="187523">
                  <a:moveTo>
                    <a:pt x="93761" y="0"/>
                  </a:moveTo>
                  <a:lnTo>
                    <a:pt x="93761" y="0"/>
                  </a:lnTo>
                  <a:cubicBezTo>
                    <a:pt x="145544" y="0"/>
                    <a:pt x="187523" y="41978"/>
                    <a:pt x="187523" y="93761"/>
                  </a:cubicBezTo>
                  <a:lnTo>
                    <a:pt x="187523" y="1801646"/>
                  </a:lnTo>
                  <a:cubicBezTo>
                    <a:pt x="187523" y="1853429"/>
                    <a:pt x="145544" y="1895408"/>
                    <a:pt x="93761" y="1895408"/>
                  </a:cubicBezTo>
                  <a:lnTo>
                    <a:pt x="93761" y="1895408"/>
                  </a:lnTo>
                  <a:cubicBezTo>
                    <a:pt x="41978" y="1895408"/>
                    <a:pt x="0" y="1853429"/>
                    <a:pt x="0" y="1801646"/>
                  </a:cubicBezTo>
                  <a:lnTo>
                    <a:pt x="0" y="93761"/>
                  </a:lnTo>
                  <a:cubicBezTo>
                    <a:pt x="0" y="41978"/>
                    <a:pt x="41978" y="0"/>
                    <a:pt x="93761" y="0"/>
                  </a:cubicBezTo>
                  <a:close/>
                </a:path>
              </a:pathLst>
            </a:custGeom>
            <a:solidFill>
              <a:srgbClr val="91D7F1"/>
            </a:solidFill>
            <a:ln cap="rnd">
              <a:noFill/>
              <a:prstDash val="solid"/>
              <a:round/>
            </a:ln>
          </p:spPr>
        </p:sp>
        <p:sp>
          <p:nvSpPr>
            <p:cNvPr name="TextBox 14" id="14"/>
            <p:cNvSpPr txBox="true"/>
            <p:nvPr/>
          </p:nvSpPr>
          <p:spPr>
            <a:xfrm>
              <a:off x="0" y="-38100"/>
              <a:ext cx="187523" cy="1933508"/>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024851" y="9682949"/>
            <a:ext cx="20412230" cy="3086100"/>
            <a:chOff x="0" y="0"/>
            <a:chExt cx="5376061" cy="812800"/>
          </a:xfrm>
        </p:grpSpPr>
        <p:sp>
          <p:nvSpPr>
            <p:cNvPr name="Freeform 16" id="16"/>
            <p:cNvSpPr/>
            <p:nvPr/>
          </p:nvSpPr>
          <p:spPr>
            <a:xfrm flipH="false" flipV="false" rot="0">
              <a:off x="0" y="0"/>
              <a:ext cx="5376061" cy="812800"/>
            </a:xfrm>
            <a:custGeom>
              <a:avLst/>
              <a:gdLst/>
              <a:ahLst/>
              <a:cxnLst/>
              <a:rect r="r" b="b" t="t" l="l"/>
              <a:pathLst>
                <a:path h="812800" w="5376061">
                  <a:moveTo>
                    <a:pt x="0" y="0"/>
                  </a:moveTo>
                  <a:lnTo>
                    <a:pt x="5376061" y="0"/>
                  </a:lnTo>
                  <a:lnTo>
                    <a:pt x="5376061" y="812800"/>
                  </a:lnTo>
                  <a:lnTo>
                    <a:pt x="0" y="812800"/>
                  </a:lnTo>
                  <a:close/>
                </a:path>
              </a:pathLst>
            </a:custGeom>
            <a:solidFill>
              <a:srgbClr val="5A90BF"/>
            </a:solidFill>
          </p:spPr>
        </p:sp>
        <p:sp>
          <p:nvSpPr>
            <p:cNvPr name="TextBox 17" id="17"/>
            <p:cNvSpPr txBox="true"/>
            <p:nvPr/>
          </p:nvSpPr>
          <p:spPr>
            <a:xfrm>
              <a:off x="0" y="-38100"/>
              <a:ext cx="5376061" cy="850900"/>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518199" y="3229441"/>
            <a:ext cx="9424463" cy="3828118"/>
          </a:xfrm>
          <a:custGeom>
            <a:avLst/>
            <a:gdLst/>
            <a:ahLst/>
            <a:cxnLst/>
            <a:rect r="r" b="b" t="t" l="l"/>
            <a:pathLst>
              <a:path h="3828118" w="9424463">
                <a:moveTo>
                  <a:pt x="0" y="0"/>
                </a:moveTo>
                <a:lnTo>
                  <a:pt x="9424463" y="0"/>
                </a:lnTo>
                <a:lnTo>
                  <a:pt x="9424463" y="3828118"/>
                </a:lnTo>
                <a:lnTo>
                  <a:pt x="0" y="3828118"/>
                </a:lnTo>
                <a:lnTo>
                  <a:pt x="0" y="0"/>
                </a:lnTo>
                <a:close/>
              </a:path>
            </a:pathLst>
          </a:custGeom>
          <a:blipFill>
            <a:blip r:embed="rId3"/>
            <a:stretch>
              <a:fillRect l="0" t="0" r="0" b="0"/>
            </a:stretch>
          </a:blipFill>
        </p:spPr>
      </p:sp>
      <p:sp>
        <p:nvSpPr>
          <p:cNvPr name="Freeform 19" id="19"/>
          <p:cNvSpPr/>
          <p:nvPr/>
        </p:nvSpPr>
        <p:spPr>
          <a:xfrm flipH="false" flipV="false" rot="0">
            <a:off x="14993178" y="7057559"/>
            <a:ext cx="2625390" cy="2625390"/>
          </a:xfrm>
          <a:custGeom>
            <a:avLst/>
            <a:gdLst/>
            <a:ahLst/>
            <a:cxnLst/>
            <a:rect r="r" b="b" t="t" l="l"/>
            <a:pathLst>
              <a:path h="2625390" w="2625390">
                <a:moveTo>
                  <a:pt x="0" y="0"/>
                </a:moveTo>
                <a:lnTo>
                  <a:pt x="2625390" y="0"/>
                </a:lnTo>
                <a:lnTo>
                  <a:pt x="2625390" y="2625390"/>
                </a:lnTo>
                <a:lnTo>
                  <a:pt x="0" y="26253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0" id="20"/>
          <p:cNvSpPr txBox="true"/>
          <p:nvPr/>
        </p:nvSpPr>
        <p:spPr>
          <a:xfrm rot="0">
            <a:off x="1061599" y="895350"/>
            <a:ext cx="16239329" cy="819150"/>
          </a:xfrm>
          <a:prstGeom prst="rect">
            <a:avLst/>
          </a:prstGeom>
        </p:spPr>
        <p:txBody>
          <a:bodyPr anchor="t" rtlCol="false" tIns="0" lIns="0" bIns="0" rIns="0">
            <a:spAutoFit/>
          </a:bodyPr>
          <a:lstStyle/>
          <a:p>
            <a:pPr algn="ctr">
              <a:lnSpc>
                <a:spcPts val="5400"/>
              </a:lnSpc>
            </a:pPr>
            <a:r>
              <a:rPr lang="en-US" b="true" sz="4500">
                <a:solidFill>
                  <a:srgbClr val="000000"/>
                </a:solidFill>
                <a:latin typeface="Cooper Hewitt Bold"/>
                <a:ea typeface="Cooper Hewitt Bold"/>
                <a:cs typeface="Cooper Hewitt Bold"/>
                <a:sym typeface="Cooper Hewitt Bold"/>
              </a:rPr>
              <a:t>CUSTOMER EXPERIENCE BY KEY PRODUCT ATTRIBUTES</a:t>
            </a:r>
          </a:p>
        </p:txBody>
      </p:sp>
      <p:sp>
        <p:nvSpPr>
          <p:cNvPr name="TextBox 21" id="21"/>
          <p:cNvSpPr txBox="true"/>
          <p:nvPr/>
        </p:nvSpPr>
        <p:spPr>
          <a:xfrm rot="0">
            <a:off x="10413241" y="3181816"/>
            <a:ext cx="6846059" cy="3875743"/>
          </a:xfrm>
          <a:prstGeom prst="rect">
            <a:avLst/>
          </a:prstGeom>
        </p:spPr>
        <p:txBody>
          <a:bodyPr anchor="t" rtlCol="false" tIns="0" lIns="0" bIns="0" rIns="0">
            <a:spAutoFit/>
          </a:bodyPr>
          <a:lstStyle/>
          <a:p>
            <a:pPr algn="just" marL="482215" indent="-241108" lvl="1">
              <a:lnSpc>
                <a:spcPts val="3126"/>
              </a:lnSpc>
              <a:buFont typeface="Arial"/>
              <a:buChar char="•"/>
            </a:pPr>
            <a:r>
              <a:rPr lang="en-US" sz="2233">
                <a:solidFill>
                  <a:srgbClr val="000000"/>
                </a:solidFill>
                <a:latin typeface="Canva Sans"/>
                <a:ea typeface="Canva Sans"/>
                <a:cs typeface="Canva Sans"/>
                <a:sym typeface="Canva Sans"/>
              </a:rPr>
              <a:t>The highest o</a:t>
            </a:r>
            <a:r>
              <a:rPr lang="en-US" sz="2233">
                <a:solidFill>
                  <a:srgbClr val="000000"/>
                </a:solidFill>
                <a:latin typeface="Canva Sans"/>
                <a:ea typeface="Canva Sans"/>
                <a:cs typeface="Canva Sans"/>
                <a:sym typeface="Canva Sans"/>
              </a:rPr>
              <a:t>verall rating (4.6) indicates strong general satisfaction.</a:t>
            </a:r>
          </a:p>
          <a:p>
            <a:pPr algn="just" marL="482215" indent="-241108" lvl="1">
              <a:lnSpc>
                <a:spcPts val="3126"/>
              </a:lnSpc>
              <a:buFont typeface="Arial"/>
              <a:buChar char="•"/>
            </a:pPr>
            <a:r>
              <a:rPr lang="en-US" sz="2233">
                <a:solidFill>
                  <a:srgbClr val="000000"/>
                </a:solidFill>
                <a:latin typeface="Canva Sans"/>
                <a:ea typeface="Canva Sans"/>
                <a:cs typeface="Canva Sans"/>
                <a:sym typeface="Canva Sans"/>
              </a:rPr>
              <a:t>Ease of Use (4.5) and Features (4.4) indicate the system is easy and functional for the majority of users.</a:t>
            </a:r>
          </a:p>
          <a:p>
            <a:pPr algn="just" marL="482215" indent="-241108" lvl="1">
              <a:lnSpc>
                <a:spcPts val="3126"/>
              </a:lnSpc>
              <a:buFont typeface="Arial"/>
              <a:buChar char="•"/>
            </a:pPr>
            <a:r>
              <a:rPr lang="en-US" sz="2233">
                <a:solidFill>
                  <a:srgbClr val="000000"/>
                </a:solidFill>
                <a:latin typeface="Canva Sans"/>
                <a:ea typeface="Canva Sans"/>
                <a:cs typeface="Canva Sans"/>
                <a:sym typeface="Canva Sans"/>
              </a:rPr>
              <a:t>Value for Money (4.4) is considered to be commensurate with the benefits received.</a:t>
            </a:r>
          </a:p>
          <a:p>
            <a:pPr algn="just" marL="482215" indent="-241108" lvl="1">
              <a:lnSpc>
                <a:spcPts val="3126"/>
              </a:lnSpc>
              <a:buFont typeface="Arial"/>
              <a:buChar char="•"/>
            </a:pPr>
            <a:r>
              <a:rPr lang="en-US" sz="2233">
                <a:solidFill>
                  <a:srgbClr val="000000"/>
                </a:solidFill>
                <a:latin typeface="Canva Sans"/>
                <a:ea typeface="Canva Sans"/>
                <a:cs typeface="Canva Sans"/>
                <a:sym typeface="Canva Sans"/>
              </a:rPr>
              <a:t>Customer Service (3.4) is the weakest attribute and is a key area influencing negative perceptions.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1048101">
            <a:off x="16788938" y="-4708531"/>
            <a:ext cx="4278385" cy="10762758"/>
            <a:chOff x="0" y="0"/>
            <a:chExt cx="1126817" cy="2834636"/>
          </a:xfrm>
        </p:grpSpPr>
        <p:sp>
          <p:nvSpPr>
            <p:cNvPr name="Freeform 4" id="4"/>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5" id="5"/>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48101">
            <a:off x="19751036" y="5783369"/>
            <a:ext cx="1867173" cy="10762758"/>
            <a:chOff x="0" y="0"/>
            <a:chExt cx="491766" cy="2834636"/>
          </a:xfrm>
        </p:grpSpPr>
        <p:sp>
          <p:nvSpPr>
            <p:cNvPr name="Freeform 7" id="7"/>
            <p:cNvSpPr/>
            <p:nvPr/>
          </p:nvSpPr>
          <p:spPr>
            <a:xfrm flipH="false" flipV="false" rot="0">
              <a:off x="0" y="0"/>
              <a:ext cx="491766" cy="2834636"/>
            </a:xfrm>
            <a:custGeom>
              <a:avLst/>
              <a:gdLst/>
              <a:ahLst/>
              <a:cxnLst/>
              <a:rect r="r" b="b" t="t" l="l"/>
              <a:pathLst>
                <a:path h="2834636" w="491766">
                  <a:moveTo>
                    <a:pt x="245883" y="0"/>
                  </a:moveTo>
                  <a:lnTo>
                    <a:pt x="245883" y="0"/>
                  </a:lnTo>
                  <a:cubicBezTo>
                    <a:pt x="381680" y="0"/>
                    <a:pt x="491766" y="110086"/>
                    <a:pt x="491766" y="245883"/>
                  </a:cubicBezTo>
                  <a:lnTo>
                    <a:pt x="491766" y="2588753"/>
                  </a:lnTo>
                  <a:cubicBezTo>
                    <a:pt x="491766" y="2724550"/>
                    <a:pt x="381680" y="2834636"/>
                    <a:pt x="245883" y="2834636"/>
                  </a:cubicBezTo>
                  <a:lnTo>
                    <a:pt x="245883" y="2834636"/>
                  </a:lnTo>
                  <a:cubicBezTo>
                    <a:pt x="110086" y="2834636"/>
                    <a:pt x="0" y="2724550"/>
                    <a:pt x="0" y="2588753"/>
                  </a:cubicBezTo>
                  <a:lnTo>
                    <a:pt x="0" y="245883"/>
                  </a:lnTo>
                  <a:cubicBezTo>
                    <a:pt x="0" y="110086"/>
                    <a:pt x="110086" y="0"/>
                    <a:pt x="245883" y="0"/>
                  </a:cubicBezTo>
                  <a:close/>
                </a:path>
              </a:pathLst>
            </a:custGeom>
            <a:solidFill>
              <a:srgbClr val="91D7F1"/>
            </a:solidFill>
            <a:ln cap="rnd">
              <a:noFill/>
              <a:prstDash val="solid"/>
              <a:round/>
            </a:ln>
          </p:spPr>
        </p:sp>
        <p:sp>
          <p:nvSpPr>
            <p:cNvPr name="TextBox 8" id="8"/>
            <p:cNvSpPr txBox="true"/>
            <p:nvPr/>
          </p:nvSpPr>
          <p:spPr>
            <a:xfrm>
              <a:off x="0" y="-38100"/>
              <a:ext cx="491766" cy="287273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48101">
            <a:off x="15862995" y="-2056816"/>
            <a:ext cx="712000" cy="7196626"/>
            <a:chOff x="0" y="0"/>
            <a:chExt cx="187523" cy="1895408"/>
          </a:xfrm>
        </p:grpSpPr>
        <p:sp>
          <p:nvSpPr>
            <p:cNvPr name="Freeform 10" id="10"/>
            <p:cNvSpPr/>
            <p:nvPr/>
          </p:nvSpPr>
          <p:spPr>
            <a:xfrm flipH="false" flipV="false" rot="0">
              <a:off x="0" y="0"/>
              <a:ext cx="187523" cy="1895408"/>
            </a:xfrm>
            <a:custGeom>
              <a:avLst/>
              <a:gdLst/>
              <a:ahLst/>
              <a:cxnLst/>
              <a:rect r="r" b="b" t="t" l="l"/>
              <a:pathLst>
                <a:path h="1895408" w="187523">
                  <a:moveTo>
                    <a:pt x="93761" y="0"/>
                  </a:moveTo>
                  <a:lnTo>
                    <a:pt x="93761" y="0"/>
                  </a:lnTo>
                  <a:cubicBezTo>
                    <a:pt x="145544" y="0"/>
                    <a:pt x="187523" y="41978"/>
                    <a:pt x="187523" y="93761"/>
                  </a:cubicBezTo>
                  <a:lnTo>
                    <a:pt x="187523" y="1801646"/>
                  </a:lnTo>
                  <a:cubicBezTo>
                    <a:pt x="187523" y="1853429"/>
                    <a:pt x="145544" y="1895408"/>
                    <a:pt x="93761" y="1895408"/>
                  </a:cubicBezTo>
                  <a:lnTo>
                    <a:pt x="93761" y="1895408"/>
                  </a:lnTo>
                  <a:cubicBezTo>
                    <a:pt x="41978" y="1895408"/>
                    <a:pt x="0" y="1853429"/>
                    <a:pt x="0" y="1801646"/>
                  </a:cubicBezTo>
                  <a:lnTo>
                    <a:pt x="0" y="93761"/>
                  </a:lnTo>
                  <a:cubicBezTo>
                    <a:pt x="0" y="41978"/>
                    <a:pt x="41978" y="0"/>
                    <a:pt x="93761" y="0"/>
                  </a:cubicBezTo>
                  <a:close/>
                </a:path>
              </a:pathLst>
            </a:custGeom>
            <a:solidFill>
              <a:srgbClr val="91D7F1"/>
            </a:solidFill>
            <a:ln cap="rnd">
              <a:noFill/>
              <a:prstDash val="solid"/>
              <a:round/>
            </a:ln>
          </p:spPr>
        </p:sp>
        <p:sp>
          <p:nvSpPr>
            <p:cNvPr name="TextBox 11" id="11"/>
            <p:cNvSpPr txBox="true"/>
            <p:nvPr/>
          </p:nvSpPr>
          <p:spPr>
            <a:xfrm>
              <a:off x="0" y="-38100"/>
              <a:ext cx="187523" cy="1933508"/>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048101">
            <a:off x="-3801344" y="2649260"/>
            <a:ext cx="4278385" cy="10762758"/>
            <a:chOff x="0" y="0"/>
            <a:chExt cx="1126817" cy="2834636"/>
          </a:xfrm>
        </p:grpSpPr>
        <p:sp>
          <p:nvSpPr>
            <p:cNvPr name="Freeform 13" id="13"/>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14" id="14"/>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260340" y="9818566"/>
            <a:ext cx="19154589" cy="1210681"/>
            <a:chOff x="0" y="0"/>
            <a:chExt cx="5044830" cy="318862"/>
          </a:xfrm>
        </p:grpSpPr>
        <p:sp>
          <p:nvSpPr>
            <p:cNvPr name="Freeform 16" id="16"/>
            <p:cNvSpPr/>
            <p:nvPr/>
          </p:nvSpPr>
          <p:spPr>
            <a:xfrm flipH="false" flipV="false" rot="0">
              <a:off x="0" y="0"/>
              <a:ext cx="5044830" cy="318862"/>
            </a:xfrm>
            <a:custGeom>
              <a:avLst/>
              <a:gdLst/>
              <a:ahLst/>
              <a:cxnLst/>
              <a:rect r="r" b="b" t="t" l="l"/>
              <a:pathLst>
                <a:path h="318862" w="5044830">
                  <a:moveTo>
                    <a:pt x="0" y="0"/>
                  </a:moveTo>
                  <a:lnTo>
                    <a:pt x="5044830" y="0"/>
                  </a:lnTo>
                  <a:lnTo>
                    <a:pt x="5044830" y="318862"/>
                  </a:lnTo>
                  <a:lnTo>
                    <a:pt x="0" y="318862"/>
                  </a:lnTo>
                  <a:close/>
                </a:path>
              </a:pathLst>
            </a:custGeom>
            <a:solidFill>
              <a:srgbClr val="5A90BF"/>
            </a:solidFill>
          </p:spPr>
        </p:sp>
        <p:sp>
          <p:nvSpPr>
            <p:cNvPr name="TextBox 17" id="17"/>
            <p:cNvSpPr txBox="true"/>
            <p:nvPr/>
          </p:nvSpPr>
          <p:spPr>
            <a:xfrm>
              <a:off x="0" y="-38100"/>
              <a:ext cx="5044830" cy="356962"/>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393661" y="672848"/>
            <a:ext cx="1620705" cy="500945"/>
          </a:xfrm>
          <a:custGeom>
            <a:avLst/>
            <a:gdLst/>
            <a:ahLst/>
            <a:cxnLst/>
            <a:rect r="r" b="b" t="t" l="l"/>
            <a:pathLst>
              <a:path h="500945" w="1620705">
                <a:moveTo>
                  <a:pt x="0" y="0"/>
                </a:moveTo>
                <a:lnTo>
                  <a:pt x="1620705" y="0"/>
                </a:lnTo>
                <a:lnTo>
                  <a:pt x="1620705" y="500945"/>
                </a:lnTo>
                <a:lnTo>
                  <a:pt x="0" y="500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p:cNvSpPr/>
          <p:nvPr/>
        </p:nvSpPr>
        <p:spPr>
          <a:xfrm flipH="false" flipV="false" rot="0">
            <a:off x="429547" y="2255293"/>
            <a:ext cx="7199055" cy="5166604"/>
          </a:xfrm>
          <a:custGeom>
            <a:avLst/>
            <a:gdLst/>
            <a:ahLst/>
            <a:cxnLst/>
            <a:rect r="r" b="b" t="t" l="l"/>
            <a:pathLst>
              <a:path h="5166604" w="7199055">
                <a:moveTo>
                  <a:pt x="0" y="0"/>
                </a:moveTo>
                <a:lnTo>
                  <a:pt x="7199056" y="0"/>
                </a:lnTo>
                <a:lnTo>
                  <a:pt x="7199056" y="5166604"/>
                </a:lnTo>
                <a:lnTo>
                  <a:pt x="0" y="5166604"/>
                </a:lnTo>
                <a:lnTo>
                  <a:pt x="0" y="0"/>
                </a:lnTo>
                <a:close/>
              </a:path>
            </a:pathLst>
          </a:custGeom>
          <a:blipFill>
            <a:blip r:embed="rId5"/>
            <a:stretch>
              <a:fillRect l="0" t="0" r="0" b="0"/>
            </a:stretch>
          </a:blipFill>
        </p:spPr>
      </p:sp>
      <p:sp>
        <p:nvSpPr>
          <p:cNvPr name="Freeform 20" id="20"/>
          <p:cNvSpPr/>
          <p:nvPr/>
        </p:nvSpPr>
        <p:spPr>
          <a:xfrm flipH="false" flipV="false" rot="0">
            <a:off x="14808342" y="6704013"/>
            <a:ext cx="3114553" cy="3114553"/>
          </a:xfrm>
          <a:custGeom>
            <a:avLst/>
            <a:gdLst/>
            <a:ahLst/>
            <a:cxnLst/>
            <a:rect r="r" b="b" t="t" l="l"/>
            <a:pathLst>
              <a:path h="3114553" w="3114553">
                <a:moveTo>
                  <a:pt x="0" y="0"/>
                </a:moveTo>
                <a:lnTo>
                  <a:pt x="3114553" y="0"/>
                </a:lnTo>
                <a:lnTo>
                  <a:pt x="3114553" y="3114553"/>
                </a:lnTo>
                <a:lnTo>
                  <a:pt x="0" y="31145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1" id="21"/>
          <p:cNvSpPr txBox="true"/>
          <p:nvPr/>
        </p:nvSpPr>
        <p:spPr>
          <a:xfrm rot="0">
            <a:off x="3585866" y="577598"/>
            <a:ext cx="11116268" cy="854075"/>
          </a:xfrm>
          <a:prstGeom prst="rect">
            <a:avLst/>
          </a:prstGeom>
        </p:spPr>
        <p:txBody>
          <a:bodyPr anchor="t" rtlCol="false" tIns="0" lIns="0" bIns="0" rIns="0">
            <a:spAutoFit/>
          </a:bodyPr>
          <a:lstStyle/>
          <a:p>
            <a:pPr algn="l">
              <a:lnSpc>
                <a:spcPts val="5500"/>
              </a:lnSpc>
            </a:pPr>
            <a:r>
              <a:rPr lang="en-US" sz="5000" b="true">
                <a:solidFill>
                  <a:srgbClr val="000000"/>
                </a:solidFill>
                <a:latin typeface="Cooper Hewitt Bold"/>
                <a:ea typeface="Cooper Hewitt Bold"/>
                <a:cs typeface="Cooper Hewitt Bold"/>
                <a:sym typeface="Cooper Hewitt Bold"/>
              </a:rPr>
              <a:t>SENTIMENT DISTRIBUTION OVERVIEW</a:t>
            </a:r>
          </a:p>
        </p:txBody>
      </p:sp>
      <p:sp>
        <p:nvSpPr>
          <p:cNvPr name="TextBox 22" id="22"/>
          <p:cNvSpPr txBox="true"/>
          <p:nvPr/>
        </p:nvSpPr>
        <p:spPr>
          <a:xfrm rot="0">
            <a:off x="7858125" y="3525837"/>
            <a:ext cx="8360870" cy="3178175"/>
          </a:xfrm>
          <a:prstGeom prst="rect">
            <a:avLst/>
          </a:prstGeom>
        </p:spPr>
        <p:txBody>
          <a:bodyPr anchor="t" rtlCol="false" tIns="0" lIns="0" bIns="0" rIns="0">
            <a:spAutoFit/>
          </a:bodyPr>
          <a:lstStyle/>
          <a:p>
            <a:pPr algn="just">
              <a:lnSpc>
                <a:spcPts val="2799"/>
              </a:lnSpc>
              <a:spcBef>
                <a:spcPct val="0"/>
              </a:spcBef>
            </a:pPr>
            <a:r>
              <a:rPr lang="en-US" sz="1999">
                <a:solidFill>
                  <a:srgbClr val="000000"/>
                </a:solidFill>
                <a:latin typeface="Poppins"/>
                <a:ea typeface="Poppins"/>
                <a:cs typeface="Poppins"/>
                <a:sym typeface="Poppins"/>
              </a:rPr>
              <a:t>Analysis of the sentiment distribution from 769 reviews indicates that the majority of customers responded positively to the ticketing system. A total of 85.96% of the reviews fall into the positive category, reflecting a high level of satisfaction and a good user experience. Neutral reviews reached 10.79%, generally containing informative comments without emotional bias. Meanwhile, only 3.25% of reviews were negative, indicating room for improvement, although the scale is relatively small compared to the overall population.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1048101">
            <a:off x="16788938" y="-4708531"/>
            <a:ext cx="4278385" cy="10762758"/>
            <a:chOff x="0" y="0"/>
            <a:chExt cx="1126817" cy="2834636"/>
          </a:xfrm>
        </p:grpSpPr>
        <p:sp>
          <p:nvSpPr>
            <p:cNvPr name="Freeform 4" id="4"/>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5" id="5"/>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48101">
            <a:off x="19751036" y="5783369"/>
            <a:ext cx="1867173" cy="10762758"/>
            <a:chOff x="0" y="0"/>
            <a:chExt cx="491766" cy="2834636"/>
          </a:xfrm>
        </p:grpSpPr>
        <p:sp>
          <p:nvSpPr>
            <p:cNvPr name="Freeform 7" id="7"/>
            <p:cNvSpPr/>
            <p:nvPr/>
          </p:nvSpPr>
          <p:spPr>
            <a:xfrm flipH="false" flipV="false" rot="0">
              <a:off x="0" y="0"/>
              <a:ext cx="491766" cy="2834636"/>
            </a:xfrm>
            <a:custGeom>
              <a:avLst/>
              <a:gdLst/>
              <a:ahLst/>
              <a:cxnLst/>
              <a:rect r="r" b="b" t="t" l="l"/>
              <a:pathLst>
                <a:path h="2834636" w="491766">
                  <a:moveTo>
                    <a:pt x="245883" y="0"/>
                  </a:moveTo>
                  <a:lnTo>
                    <a:pt x="245883" y="0"/>
                  </a:lnTo>
                  <a:cubicBezTo>
                    <a:pt x="381680" y="0"/>
                    <a:pt x="491766" y="110086"/>
                    <a:pt x="491766" y="245883"/>
                  </a:cubicBezTo>
                  <a:lnTo>
                    <a:pt x="491766" y="2588753"/>
                  </a:lnTo>
                  <a:cubicBezTo>
                    <a:pt x="491766" y="2724550"/>
                    <a:pt x="381680" y="2834636"/>
                    <a:pt x="245883" y="2834636"/>
                  </a:cubicBezTo>
                  <a:lnTo>
                    <a:pt x="245883" y="2834636"/>
                  </a:lnTo>
                  <a:cubicBezTo>
                    <a:pt x="110086" y="2834636"/>
                    <a:pt x="0" y="2724550"/>
                    <a:pt x="0" y="2588753"/>
                  </a:cubicBezTo>
                  <a:lnTo>
                    <a:pt x="0" y="245883"/>
                  </a:lnTo>
                  <a:cubicBezTo>
                    <a:pt x="0" y="110086"/>
                    <a:pt x="110086" y="0"/>
                    <a:pt x="245883" y="0"/>
                  </a:cubicBezTo>
                  <a:close/>
                </a:path>
              </a:pathLst>
            </a:custGeom>
            <a:solidFill>
              <a:srgbClr val="91D7F1"/>
            </a:solidFill>
            <a:ln cap="rnd">
              <a:noFill/>
              <a:prstDash val="solid"/>
              <a:round/>
            </a:ln>
          </p:spPr>
        </p:sp>
        <p:sp>
          <p:nvSpPr>
            <p:cNvPr name="TextBox 8" id="8"/>
            <p:cNvSpPr txBox="true"/>
            <p:nvPr/>
          </p:nvSpPr>
          <p:spPr>
            <a:xfrm>
              <a:off x="0" y="-38100"/>
              <a:ext cx="491766" cy="287273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48101">
            <a:off x="15862995" y="-2056816"/>
            <a:ext cx="712000" cy="7196626"/>
            <a:chOff x="0" y="0"/>
            <a:chExt cx="187523" cy="1895408"/>
          </a:xfrm>
        </p:grpSpPr>
        <p:sp>
          <p:nvSpPr>
            <p:cNvPr name="Freeform 10" id="10"/>
            <p:cNvSpPr/>
            <p:nvPr/>
          </p:nvSpPr>
          <p:spPr>
            <a:xfrm flipH="false" flipV="false" rot="0">
              <a:off x="0" y="0"/>
              <a:ext cx="187523" cy="1895408"/>
            </a:xfrm>
            <a:custGeom>
              <a:avLst/>
              <a:gdLst/>
              <a:ahLst/>
              <a:cxnLst/>
              <a:rect r="r" b="b" t="t" l="l"/>
              <a:pathLst>
                <a:path h="1895408" w="187523">
                  <a:moveTo>
                    <a:pt x="93761" y="0"/>
                  </a:moveTo>
                  <a:lnTo>
                    <a:pt x="93761" y="0"/>
                  </a:lnTo>
                  <a:cubicBezTo>
                    <a:pt x="145544" y="0"/>
                    <a:pt x="187523" y="41978"/>
                    <a:pt x="187523" y="93761"/>
                  </a:cubicBezTo>
                  <a:lnTo>
                    <a:pt x="187523" y="1801646"/>
                  </a:lnTo>
                  <a:cubicBezTo>
                    <a:pt x="187523" y="1853429"/>
                    <a:pt x="145544" y="1895408"/>
                    <a:pt x="93761" y="1895408"/>
                  </a:cubicBezTo>
                  <a:lnTo>
                    <a:pt x="93761" y="1895408"/>
                  </a:lnTo>
                  <a:cubicBezTo>
                    <a:pt x="41978" y="1895408"/>
                    <a:pt x="0" y="1853429"/>
                    <a:pt x="0" y="1801646"/>
                  </a:cubicBezTo>
                  <a:lnTo>
                    <a:pt x="0" y="93761"/>
                  </a:lnTo>
                  <a:cubicBezTo>
                    <a:pt x="0" y="41978"/>
                    <a:pt x="41978" y="0"/>
                    <a:pt x="93761" y="0"/>
                  </a:cubicBezTo>
                  <a:close/>
                </a:path>
              </a:pathLst>
            </a:custGeom>
            <a:solidFill>
              <a:srgbClr val="91D7F1"/>
            </a:solidFill>
            <a:ln cap="rnd">
              <a:noFill/>
              <a:prstDash val="solid"/>
              <a:round/>
            </a:ln>
          </p:spPr>
        </p:sp>
        <p:sp>
          <p:nvSpPr>
            <p:cNvPr name="TextBox 11" id="11"/>
            <p:cNvSpPr txBox="true"/>
            <p:nvPr/>
          </p:nvSpPr>
          <p:spPr>
            <a:xfrm>
              <a:off x="0" y="-38100"/>
              <a:ext cx="187523" cy="1933508"/>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048101">
            <a:off x="-3801344" y="2649260"/>
            <a:ext cx="4278385" cy="10762758"/>
            <a:chOff x="0" y="0"/>
            <a:chExt cx="1126817" cy="2834636"/>
          </a:xfrm>
        </p:grpSpPr>
        <p:sp>
          <p:nvSpPr>
            <p:cNvPr name="Freeform 13" id="13"/>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14" id="14"/>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260340" y="9818566"/>
            <a:ext cx="19154589" cy="1210681"/>
            <a:chOff x="0" y="0"/>
            <a:chExt cx="5044830" cy="318862"/>
          </a:xfrm>
        </p:grpSpPr>
        <p:sp>
          <p:nvSpPr>
            <p:cNvPr name="Freeform 16" id="16"/>
            <p:cNvSpPr/>
            <p:nvPr/>
          </p:nvSpPr>
          <p:spPr>
            <a:xfrm flipH="false" flipV="false" rot="0">
              <a:off x="0" y="0"/>
              <a:ext cx="5044830" cy="318862"/>
            </a:xfrm>
            <a:custGeom>
              <a:avLst/>
              <a:gdLst/>
              <a:ahLst/>
              <a:cxnLst/>
              <a:rect r="r" b="b" t="t" l="l"/>
              <a:pathLst>
                <a:path h="318862" w="5044830">
                  <a:moveTo>
                    <a:pt x="0" y="0"/>
                  </a:moveTo>
                  <a:lnTo>
                    <a:pt x="5044830" y="0"/>
                  </a:lnTo>
                  <a:lnTo>
                    <a:pt x="5044830" y="318862"/>
                  </a:lnTo>
                  <a:lnTo>
                    <a:pt x="0" y="318862"/>
                  </a:lnTo>
                  <a:close/>
                </a:path>
              </a:pathLst>
            </a:custGeom>
            <a:solidFill>
              <a:srgbClr val="5A90BF"/>
            </a:solidFill>
          </p:spPr>
        </p:sp>
        <p:sp>
          <p:nvSpPr>
            <p:cNvPr name="TextBox 17" id="17"/>
            <p:cNvSpPr txBox="true"/>
            <p:nvPr/>
          </p:nvSpPr>
          <p:spPr>
            <a:xfrm>
              <a:off x="0" y="-38100"/>
              <a:ext cx="5044830" cy="356962"/>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393661" y="672848"/>
            <a:ext cx="1620705" cy="500945"/>
          </a:xfrm>
          <a:custGeom>
            <a:avLst/>
            <a:gdLst/>
            <a:ahLst/>
            <a:cxnLst/>
            <a:rect r="r" b="b" t="t" l="l"/>
            <a:pathLst>
              <a:path h="500945" w="1620705">
                <a:moveTo>
                  <a:pt x="0" y="0"/>
                </a:moveTo>
                <a:lnTo>
                  <a:pt x="1620705" y="0"/>
                </a:lnTo>
                <a:lnTo>
                  <a:pt x="1620705" y="500945"/>
                </a:lnTo>
                <a:lnTo>
                  <a:pt x="0" y="500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p:cNvSpPr/>
          <p:nvPr/>
        </p:nvSpPr>
        <p:spPr>
          <a:xfrm flipH="false" flipV="false" rot="0">
            <a:off x="4418533" y="2255293"/>
            <a:ext cx="9450933" cy="4361969"/>
          </a:xfrm>
          <a:custGeom>
            <a:avLst/>
            <a:gdLst/>
            <a:ahLst/>
            <a:cxnLst/>
            <a:rect r="r" b="b" t="t" l="l"/>
            <a:pathLst>
              <a:path h="4361969" w="9450933">
                <a:moveTo>
                  <a:pt x="0" y="0"/>
                </a:moveTo>
                <a:lnTo>
                  <a:pt x="9450934" y="0"/>
                </a:lnTo>
                <a:lnTo>
                  <a:pt x="9450934" y="4361969"/>
                </a:lnTo>
                <a:lnTo>
                  <a:pt x="0" y="4361969"/>
                </a:lnTo>
                <a:lnTo>
                  <a:pt x="0" y="0"/>
                </a:lnTo>
                <a:close/>
              </a:path>
            </a:pathLst>
          </a:custGeom>
          <a:blipFill>
            <a:blip r:embed="rId5"/>
            <a:stretch>
              <a:fillRect l="0" t="0" r="0" b="0"/>
            </a:stretch>
          </a:blipFill>
        </p:spPr>
      </p:sp>
      <p:sp>
        <p:nvSpPr>
          <p:cNvPr name="Freeform 20" id="20"/>
          <p:cNvSpPr/>
          <p:nvPr/>
        </p:nvSpPr>
        <p:spPr>
          <a:xfrm flipH="false" flipV="false" rot="0">
            <a:off x="1053240" y="1541497"/>
            <a:ext cx="1961126" cy="1961126"/>
          </a:xfrm>
          <a:custGeom>
            <a:avLst/>
            <a:gdLst/>
            <a:ahLst/>
            <a:cxnLst/>
            <a:rect r="r" b="b" t="t" l="l"/>
            <a:pathLst>
              <a:path h="1961126" w="1961126">
                <a:moveTo>
                  <a:pt x="0" y="0"/>
                </a:moveTo>
                <a:lnTo>
                  <a:pt x="1961126" y="0"/>
                </a:lnTo>
                <a:lnTo>
                  <a:pt x="1961126" y="1961127"/>
                </a:lnTo>
                <a:lnTo>
                  <a:pt x="0" y="19611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1" id="21"/>
          <p:cNvSpPr txBox="true"/>
          <p:nvPr/>
        </p:nvSpPr>
        <p:spPr>
          <a:xfrm rot="0">
            <a:off x="3585866" y="577598"/>
            <a:ext cx="11116268" cy="1549400"/>
          </a:xfrm>
          <a:prstGeom prst="rect">
            <a:avLst/>
          </a:prstGeom>
        </p:spPr>
        <p:txBody>
          <a:bodyPr anchor="t" rtlCol="false" tIns="0" lIns="0" bIns="0" rIns="0">
            <a:spAutoFit/>
          </a:bodyPr>
          <a:lstStyle/>
          <a:p>
            <a:pPr algn="ctr">
              <a:lnSpc>
                <a:spcPts val="5500"/>
              </a:lnSpc>
            </a:pPr>
            <a:r>
              <a:rPr lang="en-US" b="true" sz="5000">
                <a:solidFill>
                  <a:srgbClr val="000000"/>
                </a:solidFill>
                <a:latin typeface="Cooper Hewitt Bold"/>
                <a:ea typeface="Cooper Hewitt Bold"/>
                <a:cs typeface="Cooper Hewitt Bold"/>
                <a:sym typeface="Cooper Hewitt Bold"/>
              </a:rPr>
              <a:t>SENTIMENT DISTRIBUTION ACROSS TICKETING PLATFORMS</a:t>
            </a:r>
          </a:p>
        </p:txBody>
      </p:sp>
      <p:sp>
        <p:nvSpPr>
          <p:cNvPr name="TextBox 22" id="22"/>
          <p:cNvSpPr txBox="true"/>
          <p:nvPr/>
        </p:nvSpPr>
        <p:spPr>
          <a:xfrm rot="0">
            <a:off x="1028700" y="6784975"/>
            <a:ext cx="16230600" cy="2473325"/>
          </a:xfrm>
          <a:prstGeom prst="rect">
            <a:avLst/>
          </a:prstGeom>
        </p:spPr>
        <p:txBody>
          <a:bodyPr anchor="t" rtlCol="false" tIns="0" lIns="0" bIns="0" rIns="0">
            <a:spAutoFit/>
          </a:bodyPr>
          <a:lstStyle/>
          <a:p>
            <a:pPr algn="just" marL="431799" indent="-215899" lvl="1">
              <a:lnSpc>
                <a:spcPts val="2799"/>
              </a:lnSpc>
              <a:buFont typeface="Arial"/>
              <a:buChar char="•"/>
            </a:pPr>
            <a:r>
              <a:rPr lang="en-US" sz="1999">
                <a:solidFill>
                  <a:srgbClr val="000000"/>
                </a:solidFill>
                <a:latin typeface="Poppins"/>
                <a:ea typeface="Poppins"/>
                <a:cs typeface="Poppins"/>
                <a:sym typeface="Poppins"/>
              </a:rPr>
              <a:t>Positive sentiment clearly dominates across all ticketing systems, indicating that the majority of users are satisfied with their experience.</a:t>
            </a:r>
          </a:p>
          <a:p>
            <a:pPr algn="just" marL="431799" indent="-215899" lvl="1">
              <a:lnSpc>
                <a:spcPts val="2799"/>
              </a:lnSpc>
              <a:buFont typeface="Arial"/>
              <a:buChar char="•"/>
            </a:pPr>
            <a:r>
              <a:rPr lang="en-US" sz="1999">
                <a:solidFill>
                  <a:srgbClr val="000000"/>
                </a:solidFill>
                <a:latin typeface="Poppins"/>
                <a:ea typeface="Poppins"/>
                <a:cs typeface="Poppins"/>
                <a:sym typeface="Poppins"/>
              </a:rPr>
              <a:t>Zoho Desk and Zendesk received the highest number of respondents while maintaining a very high level of positive sentiment.</a:t>
            </a:r>
          </a:p>
          <a:p>
            <a:pPr algn="just" marL="431799" indent="-215899" lvl="1">
              <a:lnSpc>
                <a:spcPts val="2799"/>
              </a:lnSpc>
              <a:buFont typeface="Arial"/>
              <a:buChar char="•"/>
            </a:pPr>
            <a:r>
              <a:rPr lang="en-US" sz="1999">
                <a:solidFill>
                  <a:srgbClr val="000000"/>
                </a:solidFill>
                <a:latin typeface="Poppins"/>
                <a:ea typeface="Poppins"/>
                <a:cs typeface="Poppins"/>
                <a:sym typeface="Poppins"/>
              </a:rPr>
              <a:t>Systems like ServiceNow and OTRS have a small review volume, so their sentiment interpretation needs to be cautious.</a:t>
            </a:r>
          </a:p>
          <a:p>
            <a:pPr algn="just" marL="431799" indent="-215899" lvl="1">
              <a:lnSpc>
                <a:spcPts val="2799"/>
              </a:lnSpc>
              <a:buFont typeface="Arial"/>
              <a:buChar char="•"/>
            </a:pPr>
            <a:r>
              <a:rPr lang="en-US" sz="1999">
                <a:solidFill>
                  <a:srgbClr val="000000"/>
                </a:solidFill>
                <a:latin typeface="Poppins"/>
                <a:ea typeface="Poppins"/>
                <a:cs typeface="Poppins"/>
                <a:sym typeface="Poppins"/>
              </a:rPr>
              <a:t>Despite being small, negative sentiment still emerges, especially regarding issues with the use, performance, or expectations of specific services.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491626" y="-605340"/>
            <a:ext cx="19154589" cy="1210681"/>
            <a:chOff x="0" y="0"/>
            <a:chExt cx="5044830" cy="318862"/>
          </a:xfrm>
        </p:grpSpPr>
        <p:sp>
          <p:nvSpPr>
            <p:cNvPr name="Freeform 4" id="4"/>
            <p:cNvSpPr/>
            <p:nvPr/>
          </p:nvSpPr>
          <p:spPr>
            <a:xfrm flipH="false" flipV="false" rot="0">
              <a:off x="0" y="0"/>
              <a:ext cx="5044830" cy="318862"/>
            </a:xfrm>
            <a:custGeom>
              <a:avLst/>
              <a:gdLst/>
              <a:ahLst/>
              <a:cxnLst/>
              <a:rect r="r" b="b" t="t" l="l"/>
              <a:pathLst>
                <a:path h="318862" w="5044830">
                  <a:moveTo>
                    <a:pt x="0" y="0"/>
                  </a:moveTo>
                  <a:lnTo>
                    <a:pt x="5044830" y="0"/>
                  </a:lnTo>
                  <a:lnTo>
                    <a:pt x="5044830" y="318862"/>
                  </a:lnTo>
                  <a:lnTo>
                    <a:pt x="0" y="318862"/>
                  </a:lnTo>
                  <a:close/>
                </a:path>
              </a:pathLst>
            </a:custGeom>
            <a:solidFill>
              <a:srgbClr val="5A90BF"/>
            </a:solidFill>
          </p:spPr>
        </p:sp>
        <p:sp>
          <p:nvSpPr>
            <p:cNvPr name="TextBox 5" id="5"/>
            <p:cNvSpPr txBox="true"/>
            <p:nvPr/>
          </p:nvSpPr>
          <p:spPr>
            <a:xfrm>
              <a:off x="0" y="-38100"/>
              <a:ext cx="5044830" cy="35696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412549" y="2285227"/>
            <a:ext cx="11346240" cy="4236178"/>
          </a:xfrm>
          <a:custGeom>
            <a:avLst/>
            <a:gdLst/>
            <a:ahLst/>
            <a:cxnLst/>
            <a:rect r="r" b="b" t="t" l="l"/>
            <a:pathLst>
              <a:path h="4236178" w="11346240">
                <a:moveTo>
                  <a:pt x="0" y="0"/>
                </a:moveTo>
                <a:lnTo>
                  <a:pt x="11346240" y="0"/>
                </a:lnTo>
                <a:lnTo>
                  <a:pt x="11346240" y="4236178"/>
                </a:lnTo>
                <a:lnTo>
                  <a:pt x="0" y="4236178"/>
                </a:lnTo>
                <a:lnTo>
                  <a:pt x="0" y="0"/>
                </a:lnTo>
                <a:close/>
              </a:path>
            </a:pathLst>
          </a:custGeom>
          <a:blipFill>
            <a:blip r:embed="rId3"/>
            <a:stretch>
              <a:fillRect l="0" t="0" r="0" b="0"/>
            </a:stretch>
          </a:blipFill>
        </p:spPr>
      </p:sp>
      <p:sp>
        <p:nvSpPr>
          <p:cNvPr name="Freeform 7" id="7"/>
          <p:cNvSpPr/>
          <p:nvPr/>
        </p:nvSpPr>
        <p:spPr>
          <a:xfrm flipH="false" flipV="false" rot="0">
            <a:off x="15347905" y="1028700"/>
            <a:ext cx="1911395" cy="1911395"/>
          </a:xfrm>
          <a:custGeom>
            <a:avLst/>
            <a:gdLst/>
            <a:ahLst/>
            <a:cxnLst/>
            <a:rect r="r" b="b" t="t" l="l"/>
            <a:pathLst>
              <a:path h="1911395" w="1911395">
                <a:moveTo>
                  <a:pt x="0" y="0"/>
                </a:moveTo>
                <a:lnTo>
                  <a:pt x="1911395" y="0"/>
                </a:lnTo>
                <a:lnTo>
                  <a:pt x="1911395" y="1911395"/>
                </a:lnTo>
                <a:lnTo>
                  <a:pt x="0" y="19113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4686004" y="933450"/>
            <a:ext cx="8915993" cy="854075"/>
          </a:xfrm>
          <a:prstGeom prst="rect">
            <a:avLst/>
          </a:prstGeom>
        </p:spPr>
        <p:txBody>
          <a:bodyPr anchor="t" rtlCol="false" tIns="0" lIns="0" bIns="0" rIns="0">
            <a:spAutoFit/>
          </a:bodyPr>
          <a:lstStyle/>
          <a:p>
            <a:pPr algn="l">
              <a:lnSpc>
                <a:spcPts val="5500"/>
              </a:lnSpc>
            </a:pPr>
            <a:r>
              <a:rPr lang="en-US" sz="5000" b="true">
                <a:solidFill>
                  <a:srgbClr val="000000"/>
                </a:solidFill>
                <a:latin typeface="Cooper Hewitt Bold"/>
                <a:ea typeface="Cooper Hewitt Bold"/>
                <a:cs typeface="Cooper Hewitt Bold"/>
                <a:sym typeface="Cooper Hewitt Bold"/>
              </a:rPr>
              <a:t>SENTIMENT TREND OVER TIME</a:t>
            </a:r>
          </a:p>
        </p:txBody>
      </p:sp>
      <p:sp>
        <p:nvSpPr>
          <p:cNvPr name="TextBox 9" id="9"/>
          <p:cNvSpPr txBox="true"/>
          <p:nvPr/>
        </p:nvSpPr>
        <p:spPr>
          <a:xfrm rot="0">
            <a:off x="1028700" y="6883355"/>
            <a:ext cx="16230600" cy="2120900"/>
          </a:xfrm>
          <a:prstGeom prst="rect">
            <a:avLst/>
          </a:prstGeom>
        </p:spPr>
        <p:txBody>
          <a:bodyPr anchor="t" rtlCol="false" tIns="0" lIns="0" bIns="0" rIns="0">
            <a:spAutoFit/>
          </a:bodyPr>
          <a:lstStyle/>
          <a:p>
            <a:pPr algn="just" marL="431799" indent="-215899" lvl="1">
              <a:lnSpc>
                <a:spcPts val="2799"/>
              </a:lnSpc>
              <a:buFont typeface="Arial"/>
              <a:buChar char="•"/>
            </a:pPr>
            <a:r>
              <a:rPr lang="en-US" sz="1999">
                <a:solidFill>
                  <a:srgbClr val="000000"/>
                </a:solidFill>
                <a:latin typeface="Poppins"/>
                <a:ea typeface="Poppins"/>
                <a:cs typeface="Poppins"/>
                <a:sym typeface="Poppins"/>
              </a:rPr>
              <a:t>Positive sentiment consistently dominated from October to December 2024 with a steady upward trend.</a:t>
            </a:r>
          </a:p>
          <a:p>
            <a:pPr algn="just" marL="431799" indent="-215899" lvl="1">
              <a:lnSpc>
                <a:spcPts val="2799"/>
              </a:lnSpc>
              <a:buFont typeface="Arial"/>
              <a:buChar char="•"/>
            </a:pPr>
            <a:r>
              <a:rPr lang="en-US" sz="1999">
                <a:solidFill>
                  <a:srgbClr val="000000"/>
                </a:solidFill>
                <a:latin typeface="Poppins"/>
                <a:ea typeface="Poppins"/>
                <a:cs typeface="Poppins"/>
                <a:sym typeface="Poppins"/>
              </a:rPr>
              <a:t>There was no significant negative spike, indicating no major issues triggering mass dissatisfaction.</a:t>
            </a:r>
          </a:p>
          <a:p>
            <a:pPr algn="just" marL="431799" indent="-215899" lvl="1">
              <a:lnSpc>
                <a:spcPts val="2799"/>
              </a:lnSpc>
              <a:buFont typeface="Arial"/>
              <a:buChar char="•"/>
            </a:pPr>
            <a:r>
              <a:rPr lang="en-US" sz="1999">
                <a:solidFill>
                  <a:srgbClr val="000000"/>
                </a:solidFill>
                <a:latin typeface="Poppins"/>
                <a:ea typeface="Poppins"/>
                <a:cs typeface="Poppins"/>
                <a:sym typeface="Poppins"/>
              </a:rPr>
              <a:t>Neutral and negative sentiment remained at very low levels, reflecting a relatively homogeneous and stable user experience.</a:t>
            </a:r>
          </a:p>
          <a:p>
            <a:pPr algn="just" marL="431799" indent="-215899" lvl="1">
              <a:lnSpc>
                <a:spcPts val="2799"/>
              </a:lnSpc>
              <a:buFont typeface="Arial"/>
              <a:buChar char="•"/>
            </a:pPr>
            <a:r>
              <a:rPr lang="en-US" sz="1999">
                <a:solidFill>
                  <a:srgbClr val="000000"/>
                </a:solidFill>
                <a:latin typeface="Poppins"/>
                <a:ea typeface="Poppins"/>
                <a:cs typeface="Poppins"/>
                <a:sym typeface="Poppins"/>
              </a:rPr>
              <a:t>The increase in positive sentiment at the end of December can be attributed to system improvements, feature enhancements, or specific service experiences.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2612257">
            <a:off x="16805484" y="-5864842"/>
            <a:ext cx="4278385" cy="10762758"/>
            <a:chOff x="0" y="0"/>
            <a:chExt cx="1126817" cy="2834636"/>
          </a:xfrm>
        </p:grpSpPr>
        <p:sp>
          <p:nvSpPr>
            <p:cNvPr name="Freeform 4" id="4"/>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5" id="5"/>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610000">
            <a:off x="-2797464" y="-5866257"/>
            <a:ext cx="4278385" cy="10762758"/>
            <a:chOff x="0" y="0"/>
            <a:chExt cx="1126817" cy="2834636"/>
          </a:xfrm>
        </p:grpSpPr>
        <p:sp>
          <p:nvSpPr>
            <p:cNvPr name="Freeform 7" id="7"/>
            <p:cNvSpPr/>
            <p:nvPr/>
          </p:nvSpPr>
          <p:spPr>
            <a:xfrm flipH="false" flipV="false" rot="0">
              <a:off x="0" y="0"/>
              <a:ext cx="1126817" cy="2834636"/>
            </a:xfrm>
            <a:custGeom>
              <a:avLst/>
              <a:gdLst/>
              <a:ahLst/>
              <a:cxnLst/>
              <a:rect r="r" b="b" t="t" l="l"/>
              <a:pathLst>
                <a:path h="2834636" w="1126817">
                  <a:moveTo>
                    <a:pt x="0" y="0"/>
                  </a:moveTo>
                  <a:lnTo>
                    <a:pt x="1126817" y="0"/>
                  </a:lnTo>
                  <a:lnTo>
                    <a:pt x="1126817" y="2834636"/>
                  </a:lnTo>
                  <a:lnTo>
                    <a:pt x="0" y="2834636"/>
                  </a:lnTo>
                  <a:close/>
                </a:path>
              </a:pathLst>
            </a:custGeom>
            <a:solidFill>
              <a:srgbClr val="5A90BF"/>
            </a:solidFill>
          </p:spPr>
        </p:sp>
        <p:sp>
          <p:nvSpPr>
            <p:cNvPr name="TextBox 8" id="8"/>
            <p:cNvSpPr txBox="true"/>
            <p:nvPr/>
          </p:nvSpPr>
          <p:spPr>
            <a:xfrm>
              <a:off x="0" y="-38100"/>
              <a:ext cx="1126817" cy="287273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612257">
            <a:off x="14637178" y="-4917543"/>
            <a:ext cx="712000" cy="7196626"/>
            <a:chOff x="0" y="0"/>
            <a:chExt cx="187523" cy="1895408"/>
          </a:xfrm>
        </p:grpSpPr>
        <p:sp>
          <p:nvSpPr>
            <p:cNvPr name="Freeform 10" id="10"/>
            <p:cNvSpPr/>
            <p:nvPr/>
          </p:nvSpPr>
          <p:spPr>
            <a:xfrm flipH="false" flipV="false" rot="0">
              <a:off x="0" y="0"/>
              <a:ext cx="187523" cy="1895408"/>
            </a:xfrm>
            <a:custGeom>
              <a:avLst/>
              <a:gdLst/>
              <a:ahLst/>
              <a:cxnLst/>
              <a:rect r="r" b="b" t="t" l="l"/>
              <a:pathLst>
                <a:path h="1895408" w="187523">
                  <a:moveTo>
                    <a:pt x="93761" y="0"/>
                  </a:moveTo>
                  <a:lnTo>
                    <a:pt x="93761" y="0"/>
                  </a:lnTo>
                  <a:cubicBezTo>
                    <a:pt x="145544" y="0"/>
                    <a:pt x="187523" y="41978"/>
                    <a:pt x="187523" y="93761"/>
                  </a:cubicBezTo>
                  <a:lnTo>
                    <a:pt x="187523" y="1801646"/>
                  </a:lnTo>
                  <a:cubicBezTo>
                    <a:pt x="187523" y="1853429"/>
                    <a:pt x="145544" y="1895408"/>
                    <a:pt x="93761" y="1895408"/>
                  </a:cubicBezTo>
                  <a:lnTo>
                    <a:pt x="93761" y="1895408"/>
                  </a:lnTo>
                  <a:cubicBezTo>
                    <a:pt x="41978" y="1895408"/>
                    <a:pt x="0" y="1853429"/>
                    <a:pt x="0" y="1801646"/>
                  </a:cubicBezTo>
                  <a:lnTo>
                    <a:pt x="0" y="93761"/>
                  </a:lnTo>
                  <a:cubicBezTo>
                    <a:pt x="0" y="41978"/>
                    <a:pt x="41978" y="0"/>
                    <a:pt x="93761" y="0"/>
                  </a:cubicBezTo>
                  <a:close/>
                </a:path>
              </a:pathLst>
            </a:custGeom>
            <a:solidFill>
              <a:srgbClr val="91D7F1"/>
            </a:solidFill>
            <a:ln cap="rnd">
              <a:noFill/>
              <a:prstDash val="solid"/>
              <a:round/>
            </a:ln>
          </p:spPr>
        </p:sp>
        <p:sp>
          <p:nvSpPr>
            <p:cNvPr name="TextBox 11" id="11"/>
            <p:cNvSpPr txBox="true"/>
            <p:nvPr/>
          </p:nvSpPr>
          <p:spPr>
            <a:xfrm>
              <a:off x="0" y="-38100"/>
              <a:ext cx="187523" cy="1933508"/>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2610000">
            <a:off x="2897347" y="-4916085"/>
            <a:ext cx="712000" cy="7196626"/>
            <a:chOff x="0" y="0"/>
            <a:chExt cx="187523" cy="1895408"/>
          </a:xfrm>
        </p:grpSpPr>
        <p:sp>
          <p:nvSpPr>
            <p:cNvPr name="Freeform 13" id="13"/>
            <p:cNvSpPr/>
            <p:nvPr/>
          </p:nvSpPr>
          <p:spPr>
            <a:xfrm flipH="false" flipV="false" rot="0">
              <a:off x="0" y="0"/>
              <a:ext cx="187523" cy="1895408"/>
            </a:xfrm>
            <a:custGeom>
              <a:avLst/>
              <a:gdLst/>
              <a:ahLst/>
              <a:cxnLst/>
              <a:rect r="r" b="b" t="t" l="l"/>
              <a:pathLst>
                <a:path h="1895408" w="187523">
                  <a:moveTo>
                    <a:pt x="93761" y="0"/>
                  </a:moveTo>
                  <a:lnTo>
                    <a:pt x="93761" y="0"/>
                  </a:lnTo>
                  <a:cubicBezTo>
                    <a:pt x="145544" y="0"/>
                    <a:pt x="187523" y="41978"/>
                    <a:pt x="187523" y="93761"/>
                  </a:cubicBezTo>
                  <a:lnTo>
                    <a:pt x="187523" y="1801646"/>
                  </a:lnTo>
                  <a:cubicBezTo>
                    <a:pt x="187523" y="1853429"/>
                    <a:pt x="145544" y="1895408"/>
                    <a:pt x="93761" y="1895408"/>
                  </a:cubicBezTo>
                  <a:lnTo>
                    <a:pt x="93761" y="1895408"/>
                  </a:lnTo>
                  <a:cubicBezTo>
                    <a:pt x="41978" y="1895408"/>
                    <a:pt x="0" y="1853429"/>
                    <a:pt x="0" y="1801646"/>
                  </a:cubicBezTo>
                  <a:lnTo>
                    <a:pt x="0" y="93761"/>
                  </a:lnTo>
                  <a:cubicBezTo>
                    <a:pt x="0" y="41978"/>
                    <a:pt x="41978" y="0"/>
                    <a:pt x="93761" y="0"/>
                  </a:cubicBezTo>
                  <a:close/>
                </a:path>
              </a:pathLst>
            </a:custGeom>
            <a:solidFill>
              <a:srgbClr val="91D7F1"/>
            </a:solidFill>
            <a:ln cap="rnd">
              <a:noFill/>
              <a:prstDash val="solid"/>
              <a:round/>
            </a:ln>
          </p:spPr>
        </p:sp>
        <p:sp>
          <p:nvSpPr>
            <p:cNvPr name="TextBox 14" id="14"/>
            <p:cNvSpPr txBox="true"/>
            <p:nvPr/>
          </p:nvSpPr>
          <p:spPr>
            <a:xfrm>
              <a:off x="0" y="-38100"/>
              <a:ext cx="187523" cy="1933508"/>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024851" y="9682949"/>
            <a:ext cx="20412230" cy="3086100"/>
            <a:chOff x="0" y="0"/>
            <a:chExt cx="5376061" cy="812800"/>
          </a:xfrm>
        </p:grpSpPr>
        <p:sp>
          <p:nvSpPr>
            <p:cNvPr name="Freeform 16" id="16"/>
            <p:cNvSpPr/>
            <p:nvPr/>
          </p:nvSpPr>
          <p:spPr>
            <a:xfrm flipH="false" flipV="false" rot="0">
              <a:off x="0" y="0"/>
              <a:ext cx="5376061" cy="812800"/>
            </a:xfrm>
            <a:custGeom>
              <a:avLst/>
              <a:gdLst/>
              <a:ahLst/>
              <a:cxnLst/>
              <a:rect r="r" b="b" t="t" l="l"/>
              <a:pathLst>
                <a:path h="812800" w="5376061">
                  <a:moveTo>
                    <a:pt x="0" y="0"/>
                  </a:moveTo>
                  <a:lnTo>
                    <a:pt x="5376061" y="0"/>
                  </a:lnTo>
                  <a:lnTo>
                    <a:pt x="5376061" y="812800"/>
                  </a:lnTo>
                  <a:lnTo>
                    <a:pt x="0" y="812800"/>
                  </a:lnTo>
                  <a:close/>
                </a:path>
              </a:pathLst>
            </a:custGeom>
            <a:solidFill>
              <a:srgbClr val="5A90BF"/>
            </a:solidFill>
          </p:spPr>
        </p:sp>
        <p:sp>
          <p:nvSpPr>
            <p:cNvPr name="TextBox 17" id="17"/>
            <p:cNvSpPr txBox="true"/>
            <p:nvPr/>
          </p:nvSpPr>
          <p:spPr>
            <a:xfrm>
              <a:off x="0" y="-38100"/>
              <a:ext cx="5376061" cy="850900"/>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0" y="2750660"/>
            <a:ext cx="10535220" cy="5185730"/>
          </a:xfrm>
          <a:custGeom>
            <a:avLst/>
            <a:gdLst/>
            <a:ahLst/>
            <a:cxnLst/>
            <a:rect r="r" b="b" t="t" l="l"/>
            <a:pathLst>
              <a:path h="5185730" w="10535220">
                <a:moveTo>
                  <a:pt x="0" y="0"/>
                </a:moveTo>
                <a:lnTo>
                  <a:pt x="10535220" y="0"/>
                </a:lnTo>
                <a:lnTo>
                  <a:pt x="10535220" y="5185730"/>
                </a:lnTo>
                <a:lnTo>
                  <a:pt x="0" y="5185730"/>
                </a:lnTo>
                <a:lnTo>
                  <a:pt x="0" y="0"/>
                </a:lnTo>
                <a:close/>
              </a:path>
            </a:pathLst>
          </a:custGeom>
          <a:blipFill>
            <a:blip r:embed="rId3"/>
            <a:stretch>
              <a:fillRect l="0" t="0" r="0" b="0"/>
            </a:stretch>
          </a:blipFill>
        </p:spPr>
      </p:sp>
      <p:sp>
        <p:nvSpPr>
          <p:cNvPr name="Freeform 19" id="19"/>
          <p:cNvSpPr/>
          <p:nvPr/>
        </p:nvSpPr>
        <p:spPr>
          <a:xfrm flipH="false" flipV="false" rot="0">
            <a:off x="15799530" y="7593476"/>
            <a:ext cx="2296124" cy="2089473"/>
          </a:xfrm>
          <a:custGeom>
            <a:avLst/>
            <a:gdLst/>
            <a:ahLst/>
            <a:cxnLst/>
            <a:rect r="r" b="b" t="t" l="l"/>
            <a:pathLst>
              <a:path h="2089473" w="2296124">
                <a:moveTo>
                  <a:pt x="0" y="0"/>
                </a:moveTo>
                <a:lnTo>
                  <a:pt x="2296125" y="0"/>
                </a:lnTo>
                <a:lnTo>
                  <a:pt x="2296125" y="2089473"/>
                </a:lnTo>
                <a:lnTo>
                  <a:pt x="0" y="20894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0" id="20"/>
          <p:cNvSpPr txBox="true"/>
          <p:nvPr/>
        </p:nvSpPr>
        <p:spPr>
          <a:xfrm rot="0">
            <a:off x="3767535" y="895350"/>
            <a:ext cx="10752929" cy="819150"/>
          </a:xfrm>
          <a:prstGeom prst="rect">
            <a:avLst/>
          </a:prstGeom>
        </p:spPr>
        <p:txBody>
          <a:bodyPr anchor="t" rtlCol="false" tIns="0" lIns="0" bIns="0" rIns="0">
            <a:spAutoFit/>
          </a:bodyPr>
          <a:lstStyle/>
          <a:p>
            <a:pPr algn="ctr">
              <a:lnSpc>
                <a:spcPts val="5400"/>
              </a:lnSpc>
            </a:pPr>
            <a:r>
              <a:rPr lang="en-US" b="true" sz="4500">
                <a:solidFill>
                  <a:srgbClr val="000000"/>
                </a:solidFill>
                <a:latin typeface="Cooper Hewitt Bold"/>
                <a:ea typeface="Cooper Hewitt Bold"/>
                <a:cs typeface="Cooper Hewitt Bold"/>
                <a:sym typeface="Cooper Hewitt Bold"/>
              </a:rPr>
              <a:t>KEY THEMES FROM CUSTOMER REVIEWS</a:t>
            </a:r>
          </a:p>
        </p:txBody>
      </p:sp>
      <p:sp>
        <p:nvSpPr>
          <p:cNvPr name="TextBox 21" id="21"/>
          <p:cNvSpPr txBox="true"/>
          <p:nvPr/>
        </p:nvSpPr>
        <p:spPr>
          <a:xfrm rot="0">
            <a:off x="10535220" y="3006725"/>
            <a:ext cx="7560434" cy="4225925"/>
          </a:xfrm>
          <a:prstGeom prst="rect">
            <a:avLst/>
          </a:prstGeom>
        </p:spPr>
        <p:txBody>
          <a:bodyPr anchor="t" rtlCol="false" tIns="0" lIns="0" bIns="0" rIns="0">
            <a:spAutoFit/>
          </a:bodyPr>
          <a:lstStyle/>
          <a:p>
            <a:pPr algn="just" marL="431801" indent="-215900" lvl="1">
              <a:lnSpc>
                <a:spcPts val="2800"/>
              </a:lnSpc>
              <a:buFont typeface="Arial"/>
              <a:buChar char="•"/>
            </a:pPr>
            <a:r>
              <a:rPr lang="en-US" sz="2000">
                <a:solidFill>
                  <a:srgbClr val="000000"/>
                </a:solidFill>
                <a:latin typeface="Canva Sans"/>
                <a:ea typeface="Canva Sans"/>
                <a:cs typeface="Canva Sans"/>
                <a:sym typeface="Canva Sans"/>
              </a:rPr>
              <a:t>Words like "easy," "help," "manage," "tool," and "features" emerged as the most dominant themes, indicating users' primary focus on ease of use and core functionality.</a:t>
            </a:r>
          </a:p>
          <a:p>
            <a:pPr algn="just" marL="431801" indent="-215900" lvl="1">
              <a:lnSpc>
                <a:spcPts val="2800"/>
              </a:lnSpc>
              <a:buFont typeface="Arial"/>
              <a:buChar char="•"/>
            </a:pPr>
            <a:r>
              <a:rPr lang="en-US" sz="2000">
                <a:solidFill>
                  <a:srgbClr val="000000"/>
                </a:solidFill>
                <a:latin typeface="Canva Sans"/>
                <a:ea typeface="Canva Sans"/>
                <a:cs typeface="Canva Sans"/>
                <a:sym typeface="Canva Sans"/>
              </a:rPr>
              <a:t>The appearance of the words "customers," "desk," and "requests" reflects an operational context centered on customer service and ticket management.</a:t>
            </a:r>
          </a:p>
          <a:p>
            <a:pPr algn="just" marL="431801" indent="-215900" lvl="1">
              <a:lnSpc>
                <a:spcPts val="2800"/>
              </a:lnSpc>
              <a:buFont typeface="Arial"/>
              <a:buChar char="•"/>
            </a:pPr>
            <a:r>
              <a:rPr lang="en-US" sz="2000">
                <a:solidFill>
                  <a:srgbClr val="000000"/>
                </a:solidFill>
                <a:latin typeface="Canva Sans"/>
                <a:ea typeface="Canva Sans"/>
                <a:cs typeface="Canva Sans"/>
                <a:sym typeface="Canva Sans"/>
              </a:rPr>
              <a:t>Words like "track," "interface," "quickly," and "solution" indicate that the speed and clarity of the process significantly impact the user experience.</a:t>
            </a:r>
          </a:p>
          <a:p>
            <a:pPr algn="just" marL="431801" indent="-215900" lvl="1">
              <a:lnSpc>
                <a:spcPts val="2800"/>
              </a:lnSpc>
              <a:buFont typeface="Arial"/>
              <a:buChar char="•"/>
            </a:pPr>
            <a:r>
              <a:rPr lang="en-US" sz="2000">
                <a:solidFill>
                  <a:srgbClr val="000000"/>
                </a:solidFill>
                <a:latin typeface="Canva Sans"/>
                <a:ea typeface="Canva Sans"/>
                <a:cs typeface="Canva Sans"/>
                <a:sym typeface="Canva Sans"/>
              </a:rPr>
              <a:t>Almost all of the dominant words are positive or neutral in tone, supporting the sentiment analysis results that customer experience is generally very good.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TextBox 3" id="3"/>
          <p:cNvSpPr txBox="true"/>
          <p:nvPr/>
        </p:nvSpPr>
        <p:spPr>
          <a:xfrm rot="0">
            <a:off x="3072984" y="1228725"/>
            <a:ext cx="12142032" cy="904875"/>
          </a:xfrm>
          <a:prstGeom prst="rect">
            <a:avLst/>
          </a:prstGeom>
        </p:spPr>
        <p:txBody>
          <a:bodyPr anchor="t" rtlCol="false" tIns="0" lIns="0" bIns="0" rIns="0">
            <a:spAutoFit/>
          </a:bodyPr>
          <a:lstStyle/>
          <a:p>
            <a:pPr algn="ctr">
              <a:lnSpc>
                <a:spcPts val="6000"/>
              </a:lnSpc>
            </a:pPr>
            <a:r>
              <a:rPr lang="en-US" b="true" sz="5000">
                <a:solidFill>
                  <a:srgbClr val="000000"/>
                </a:solidFill>
                <a:latin typeface="Cooper Hewitt Bold"/>
                <a:ea typeface="Cooper Hewitt Bold"/>
                <a:cs typeface="Cooper Hewitt Bold"/>
                <a:sym typeface="Cooper Hewitt Bold"/>
              </a:rPr>
              <a:t>CONCLUSION</a:t>
            </a:r>
          </a:p>
        </p:txBody>
      </p:sp>
      <p:grpSp>
        <p:nvGrpSpPr>
          <p:cNvPr name="Group 4" id="4"/>
          <p:cNvGrpSpPr/>
          <p:nvPr/>
        </p:nvGrpSpPr>
        <p:grpSpPr>
          <a:xfrm rot="3055896">
            <a:off x="13635552" y="7374913"/>
            <a:ext cx="1328403" cy="7657178"/>
            <a:chOff x="0" y="0"/>
            <a:chExt cx="491766" cy="2834636"/>
          </a:xfrm>
        </p:grpSpPr>
        <p:sp>
          <p:nvSpPr>
            <p:cNvPr name="Freeform 5" id="5"/>
            <p:cNvSpPr/>
            <p:nvPr/>
          </p:nvSpPr>
          <p:spPr>
            <a:xfrm flipH="false" flipV="false" rot="0">
              <a:off x="0" y="0"/>
              <a:ext cx="491766" cy="2834636"/>
            </a:xfrm>
            <a:custGeom>
              <a:avLst/>
              <a:gdLst/>
              <a:ahLst/>
              <a:cxnLst/>
              <a:rect r="r" b="b" t="t" l="l"/>
              <a:pathLst>
                <a:path h="2834636" w="491766">
                  <a:moveTo>
                    <a:pt x="245883" y="0"/>
                  </a:moveTo>
                  <a:lnTo>
                    <a:pt x="245883" y="0"/>
                  </a:lnTo>
                  <a:cubicBezTo>
                    <a:pt x="381680" y="0"/>
                    <a:pt x="491766" y="110086"/>
                    <a:pt x="491766" y="245883"/>
                  </a:cubicBezTo>
                  <a:lnTo>
                    <a:pt x="491766" y="2588753"/>
                  </a:lnTo>
                  <a:cubicBezTo>
                    <a:pt x="491766" y="2724550"/>
                    <a:pt x="381680" y="2834636"/>
                    <a:pt x="245883" y="2834636"/>
                  </a:cubicBezTo>
                  <a:lnTo>
                    <a:pt x="245883" y="2834636"/>
                  </a:lnTo>
                  <a:cubicBezTo>
                    <a:pt x="110086" y="2834636"/>
                    <a:pt x="0" y="2724550"/>
                    <a:pt x="0" y="2588753"/>
                  </a:cubicBezTo>
                  <a:lnTo>
                    <a:pt x="0" y="245883"/>
                  </a:lnTo>
                  <a:cubicBezTo>
                    <a:pt x="0" y="110086"/>
                    <a:pt x="110086" y="0"/>
                    <a:pt x="245883" y="0"/>
                  </a:cubicBezTo>
                  <a:close/>
                </a:path>
              </a:pathLst>
            </a:custGeom>
            <a:solidFill>
              <a:srgbClr val="91D7F1"/>
            </a:solidFill>
            <a:ln cap="rnd">
              <a:noFill/>
              <a:prstDash val="solid"/>
              <a:round/>
            </a:ln>
          </p:spPr>
        </p:sp>
        <p:sp>
          <p:nvSpPr>
            <p:cNvPr name="TextBox 6" id="6"/>
            <p:cNvSpPr txBox="true"/>
            <p:nvPr/>
          </p:nvSpPr>
          <p:spPr>
            <a:xfrm>
              <a:off x="0" y="-38100"/>
              <a:ext cx="491766" cy="2872736"/>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3054000">
            <a:off x="3440458" y="7376322"/>
            <a:ext cx="1328403" cy="7657178"/>
            <a:chOff x="0" y="0"/>
            <a:chExt cx="491766" cy="2834636"/>
          </a:xfrm>
        </p:grpSpPr>
        <p:sp>
          <p:nvSpPr>
            <p:cNvPr name="Freeform 8" id="8"/>
            <p:cNvSpPr/>
            <p:nvPr/>
          </p:nvSpPr>
          <p:spPr>
            <a:xfrm flipH="false" flipV="false" rot="0">
              <a:off x="0" y="0"/>
              <a:ext cx="491766" cy="2834636"/>
            </a:xfrm>
            <a:custGeom>
              <a:avLst/>
              <a:gdLst/>
              <a:ahLst/>
              <a:cxnLst/>
              <a:rect r="r" b="b" t="t" l="l"/>
              <a:pathLst>
                <a:path h="2834636" w="491766">
                  <a:moveTo>
                    <a:pt x="245883" y="0"/>
                  </a:moveTo>
                  <a:lnTo>
                    <a:pt x="245883" y="0"/>
                  </a:lnTo>
                  <a:cubicBezTo>
                    <a:pt x="381680" y="0"/>
                    <a:pt x="491766" y="110086"/>
                    <a:pt x="491766" y="245883"/>
                  </a:cubicBezTo>
                  <a:lnTo>
                    <a:pt x="491766" y="2588753"/>
                  </a:lnTo>
                  <a:cubicBezTo>
                    <a:pt x="491766" y="2724550"/>
                    <a:pt x="381680" y="2834636"/>
                    <a:pt x="245883" y="2834636"/>
                  </a:cubicBezTo>
                  <a:lnTo>
                    <a:pt x="245883" y="2834636"/>
                  </a:lnTo>
                  <a:cubicBezTo>
                    <a:pt x="110086" y="2834636"/>
                    <a:pt x="0" y="2724550"/>
                    <a:pt x="0" y="2588753"/>
                  </a:cubicBezTo>
                  <a:lnTo>
                    <a:pt x="0" y="245883"/>
                  </a:lnTo>
                  <a:cubicBezTo>
                    <a:pt x="0" y="110086"/>
                    <a:pt x="110086" y="0"/>
                    <a:pt x="245883" y="0"/>
                  </a:cubicBezTo>
                  <a:close/>
                </a:path>
              </a:pathLst>
            </a:custGeom>
            <a:solidFill>
              <a:srgbClr val="91D7F1"/>
            </a:solidFill>
            <a:ln cap="rnd">
              <a:noFill/>
              <a:prstDash val="solid"/>
              <a:round/>
            </a:ln>
          </p:spPr>
        </p:sp>
        <p:sp>
          <p:nvSpPr>
            <p:cNvPr name="TextBox 9" id="9"/>
            <p:cNvSpPr txBox="true"/>
            <p:nvPr/>
          </p:nvSpPr>
          <p:spPr>
            <a:xfrm>
              <a:off x="0" y="-38100"/>
              <a:ext cx="491766" cy="287273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2882442">
            <a:off x="16097008" y="5837870"/>
            <a:ext cx="5131911" cy="10448862"/>
            <a:chOff x="0" y="0"/>
            <a:chExt cx="1899799" cy="3868099"/>
          </a:xfrm>
        </p:grpSpPr>
        <p:sp>
          <p:nvSpPr>
            <p:cNvPr name="Freeform 11" id="11"/>
            <p:cNvSpPr/>
            <p:nvPr/>
          </p:nvSpPr>
          <p:spPr>
            <a:xfrm flipH="false" flipV="false" rot="0">
              <a:off x="0" y="0"/>
              <a:ext cx="1899799" cy="3868099"/>
            </a:xfrm>
            <a:custGeom>
              <a:avLst/>
              <a:gdLst/>
              <a:ahLst/>
              <a:cxnLst/>
              <a:rect r="r" b="b" t="t" l="l"/>
              <a:pathLst>
                <a:path h="3868099" w="1899799">
                  <a:moveTo>
                    <a:pt x="0" y="0"/>
                  </a:moveTo>
                  <a:lnTo>
                    <a:pt x="1899799" y="0"/>
                  </a:lnTo>
                  <a:lnTo>
                    <a:pt x="1899799" y="3868099"/>
                  </a:lnTo>
                  <a:lnTo>
                    <a:pt x="0" y="3868099"/>
                  </a:lnTo>
                  <a:close/>
                </a:path>
              </a:pathLst>
            </a:custGeom>
            <a:solidFill>
              <a:srgbClr val="5A90BF"/>
            </a:solidFill>
          </p:spPr>
        </p:sp>
        <p:sp>
          <p:nvSpPr>
            <p:cNvPr name="TextBox 12" id="12"/>
            <p:cNvSpPr txBox="true"/>
            <p:nvPr/>
          </p:nvSpPr>
          <p:spPr>
            <a:xfrm>
              <a:off x="0" y="-38100"/>
              <a:ext cx="1899799" cy="3906199"/>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2880000">
            <a:off x="-2565955" y="5979071"/>
            <a:ext cx="5131911" cy="10448862"/>
            <a:chOff x="0" y="0"/>
            <a:chExt cx="1899799" cy="3868099"/>
          </a:xfrm>
        </p:grpSpPr>
        <p:sp>
          <p:nvSpPr>
            <p:cNvPr name="Freeform 14" id="14"/>
            <p:cNvSpPr/>
            <p:nvPr/>
          </p:nvSpPr>
          <p:spPr>
            <a:xfrm flipH="false" flipV="false" rot="0">
              <a:off x="0" y="0"/>
              <a:ext cx="1899799" cy="3868099"/>
            </a:xfrm>
            <a:custGeom>
              <a:avLst/>
              <a:gdLst/>
              <a:ahLst/>
              <a:cxnLst/>
              <a:rect r="r" b="b" t="t" l="l"/>
              <a:pathLst>
                <a:path h="3868099" w="1899799">
                  <a:moveTo>
                    <a:pt x="0" y="0"/>
                  </a:moveTo>
                  <a:lnTo>
                    <a:pt x="1899799" y="0"/>
                  </a:lnTo>
                  <a:lnTo>
                    <a:pt x="1899799" y="3868099"/>
                  </a:lnTo>
                  <a:lnTo>
                    <a:pt x="0" y="3868099"/>
                  </a:lnTo>
                  <a:close/>
                </a:path>
              </a:pathLst>
            </a:custGeom>
            <a:solidFill>
              <a:srgbClr val="5A90BF"/>
            </a:solidFill>
          </p:spPr>
        </p:sp>
        <p:sp>
          <p:nvSpPr>
            <p:cNvPr name="TextBox 15" id="15"/>
            <p:cNvSpPr txBox="true"/>
            <p:nvPr/>
          </p:nvSpPr>
          <p:spPr>
            <a:xfrm>
              <a:off x="0" y="-38100"/>
              <a:ext cx="1899799" cy="3906199"/>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2700000">
            <a:off x="18803612" y="3813628"/>
            <a:ext cx="506553" cy="5120049"/>
            <a:chOff x="0" y="0"/>
            <a:chExt cx="187523" cy="1895408"/>
          </a:xfrm>
        </p:grpSpPr>
        <p:sp>
          <p:nvSpPr>
            <p:cNvPr name="Freeform 17" id="17"/>
            <p:cNvSpPr/>
            <p:nvPr/>
          </p:nvSpPr>
          <p:spPr>
            <a:xfrm flipH="false" flipV="false" rot="0">
              <a:off x="0" y="0"/>
              <a:ext cx="187523" cy="1895408"/>
            </a:xfrm>
            <a:custGeom>
              <a:avLst/>
              <a:gdLst/>
              <a:ahLst/>
              <a:cxnLst/>
              <a:rect r="r" b="b" t="t" l="l"/>
              <a:pathLst>
                <a:path h="1895408" w="187523">
                  <a:moveTo>
                    <a:pt x="93761" y="0"/>
                  </a:moveTo>
                  <a:lnTo>
                    <a:pt x="93761" y="0"/>
                  </a:lnTo>
                  <a:cubicBezTo>
                    <a:pt x="145544" y="0"/>
                    <a:pt x="187523" y="41978"/>
                    <a:pt x="187523" y="93761"/>
                  </a:cubicBezTo>
                  <a:lnTo>
                    <a:pt x="187523" y="1801646"/>
                  </a:lnTo>
                  <a:cubicBezTo>
                    <a:pt x="187523" y="1853429"/>
                    <a:pt x="145544" y="1895408"/>
                    <a:pt x="93761" y="1895408"/>
                  </a:cubicBezTo>
                  <a:lnTo>
                    <a:pt x="93761" y="1895408"/>
                  </a:lnTo>
                  <a:cubicBezTo>
                    <a:pt x="41978" y="1895408"/>
                    <a:pt x="0" y="1853429"/>
                    <a:pt x="0" y="1801646"/>
                  </a:cubicBezTo>
                  <a:lnTo>
                    <a:pt x="0" y="93761"/>
                  </a:lnTo>
                  <a:cubicBezTo>
                    <a:pt x="0" y="41978"/>
                    <a:pt x="41978" y="0"/>
                    <a:pt x="93761" y="0"/>
                  </a:cubicBezTo>
                  <a:close/>
                </a:path>
              </a:pathLst>
            </a:custGeom>
            <a:solidFill>
              <a:srgbClr val="91D7F1"/>
            </a:solidFill>
            <a:ln cap="rnd">
              <a:noFill/>
              <a:prstDash val="solid"/>
              <a:round/>
            </a:ln>
          </p:spPr>
        </p:sp>
        <p:sp>
          <p:nvSpPr>
            <p:cNvPr name="TextBox 18" id="18"/>
            <p:cNvSpPr txBox="true"/>
            <p:nvPr/>
          </p:nvSpPr>
          <p:spPr>
            <a:xfrm>
              <a:off x="0" y="-38100"/>
              <a:ext cx="187523" cy="1933508"/>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2699999">
            <a:off x="-1017447" y="3725532"/>
            <a:ext cx="506553" cy="5120049"/>
            <a:chOff x="0" y="0"/>
            <a:chExt cx="187523" cy="1895408"/>
          </a:xfrm>
        </p:grpSpPr>
        <p:sp>
          <p:nvSpPr>
            <p:cNvPr name="Freeform 20" id="20"/>
            <p:cNvSpPr/>
            <p:nvPr/>
          </p:nvSpPr>
          <p:spPr>
            <a:xfrm flipH="false" flipV="false" rot="0">
              <a:off x="0" y="0"/>
              <a:ext cx="187523" cy="1895408"/>
            </a:xfrm>
            <a:custGeom>
              <a:avLst/>
              <a:gdLst/>
              <a:ahLst/>
              <a:cxnLst/>
              <a:rect r="r" b="b" t="t" l="l"/>
              <a:pathLst>
                <a:path h="1895408" w="187523">
                  <a:moveTo>
                    <a:pt x="93761" y="0"/>
                  </a:moveTo>
                  <a:lnTo>
                    <a:pt x="93761" y="0"/>
                  </a:lnTo>
                  <a:cubicBezTo>
                    <a:pt x="145544" y="0"/>
                    <a:pt x="187523" y="41978"/>
                    <a:pt x="187523" y="93761"/>
                  </a:cubicBezTo>
                  <a:lnTo>
                    <a:pt x="187523" y="1801646"/>
                  </a:lnTo>
                  <a:cubicBezTo>
                    <a:pt x="187523" y="1853429"/>
                    <a:pt x="145544" y="1895408"/>
                    <a:pt x="93761" y="1895408"/>
                  </a:cubicBezTo>
                  <a:lnTo>
                    <a:pt x="93761" y="1895408"/>
                  </a:lnTo>
                  <a:cubicBezTo>
                    <a:pt x="41978" y="1895408"/>
                    <a:pt x="0" y="1853429"/>
                    <a:pt x="0" y="1801646"/>
                  </a:cubicBezTo>
                  <a:lnTo>
                    <a:pt x="0" y="93761"/>
                  </a:lnTo>
                  <a:cubicBezTo>
                    <a:pt x="0" y="41978"/>
                    <a:pt x="41978" y="0"/>
                    <a:pt x="93761" y="0"/>
                  </a:cubicBezTo>
                  <a:close/>
                </a:path>
              </a:pathLst>
            </a:custGeom>
            <a:solidFill>
              <a:srgbClr val="91D7F1"/>
            </a:solidFill>
            <a:ln cap="rnd">
              <a:noFill/>
              <a:prstDash val="solid"/>
              <a:round/>
            </a:ln>
          </p:spPr>
        </p:sp>
        <p:sp>
          <p:nvSpPr>
            <p:cNvPr name="TextBox 21" id="21"/>
            <p:cNvSpPr txBox="true"/>
            <p:nvPr/>
          </p:nvSpPr>
          <p:spPr>
            <a:xfrm>
              <a:off x="0" y="-38100"/>
              <a:ext cx="187523" cy="1933508"/>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5400000">
            <a:off x="503370" y="4741295"/>
            <a:ext cx="2251784" cy="696006"/>
          </a:xfrm>
          <a:custGeom>
            <a:avLst/>
            <a:gdLst/>
            <a:ahLst/>
            <a:cxnLst/>
            <a:rect r="r" b="b" t="t" l="l"/>
            <a:pathLst>
              <a:path h="696006" w="2251784">
                <a:moveTo>
                  <a:pt x="0" y="0"/>
                </a:moveTo>
                <a:lnTo>
                  <a:pt x="2251785" y="0"/>
                </a:lnTo>
                <a:lnTo>
                  <a:pt x="2251785" y="696006"/>
                </a:lnTo>
                <a:lnTo>
                  <a:pt x="0" y="6960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3" id="23"/>
          <p:cNvSpPr/>
          <p:nvPr/>
        </p:nvSpPr>
        <p:spPr>
          <a:xfrm flipH="false" flipV="false" rot="-5400000">
            <a:off x="15532845" y="4725130"/>
            <a:ext cx="2251784" cy="696006"/>
          </a:xfrm>
          <a:custGeom>
            <a:avLst/>
            <a:gdLst/>
            <a:ahLst/>
            <a:cxnLst/>
            <a:rect r="r" b="b" t="t" l="l"/>
            <a:pathLst>
              <a:path h="696006" w="2251784">
                <a:moveTo>
                  <a:pt x="0" y="0"/>
                </a:moveTo>
                <a:lnTo>
                  <a:pt x="2251785" y="0"/>
                </a:lnTo>
                <a:lnTo>
                  <a:pt x="2251785" y="696007"/>
                </a:lnTo>
                <a:lnTo>
                  <a:pt x="0" y="6960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4" id="24"/>
          <p:cNvSpPr txBox="true"/>
          <p:nvPr/>
        </p:nvSpPr>
        <p:spPr>
          <a:xfrm rot="0">
            <a:off x="3072984" y="2917899"/>
            <a:ext cx="12142032" cy="5699125"/>
          </a:xfrm>
          <a:prstGeom prst="rect">
            <a:avLst/>
          </a:prstGeom>
        </p:spPr>
        <p:txBody>
          <a:bodyPr anchor="t" rtlCol="false" tIns="0" lIns="0" bIns="0" rIns="0">
            <a:spAutoFit/>
          </a:bodyPr>
          <a:lstStyle/>
          <a:p>
            <a:pPr algn="just">
              <a:lnSpc>
                <a:spcPts val="3499"/>
              </a:lnSpc>
              <a:spcBef>
                <a:spcPct val="0"/>
              </a:spcBef>
            </a:pPr>
            <a:r>
              <a:rPr lang="en-US" sz="2499">
                <a:solidFill>
                  <a:srgbClr val="000000"/>
                </a:solidFill>
                <a:latin typeface="Poppins"/>
                <a:ea typeface="Poppins"/>
                <a:cs typeface="Poppins"/>
                <a:sym typeface="Poppins"/>
              </a:rPr>
              <a:t>This a</a:t>
            </a:r>
            <a:r>
              <a:rPr lang="en-US" sz="2499">
                <a:solidFill>
                  <a:srgbClr val="000000"/>
                </a:solidFill>
                <a:latin typeface="Poppins"/>
                <a:ea typeface="Poppins"/>
                <a:cs typeface="Poppins"/>
                <a:sym typeface="Poppins"/>
              </a:rPr>
              <a:t>nalysis shows that customer satisfaction with the ticketing system is at a very high level, evidenced by CSAT scores of 91.86% and CES 90.07%, reflecting an easy and satisfying user experience for the majority of respondents. Out of a total of 1,462 reviews, 769 valid respondents (52.60%) were used in the analysis to ensure the quality of the results. Although overall satisfaction is very good, an NPS score of 14.04% indicates that loyalty levels and referral potential are still not optimal. The sentiment analysis results show that 85.96% of the reviews are positive, however, the customer service area emerges as a weak point with a lower average score and a significant contribution to both neutral and negative reviews. Overall, the combination of numerical analysis, sentiment classification, per-platform distribution, and wordcloud provides a comprehensive overview of user perceptions and the key factors influencing their experience.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260340" y="9818566"/>
            <a:ext cx="19154589" cy="1210681"/>
            <a:chOff x="0" y="0"/>
            <a:chExt cx="5044830" cy="318862"/>
          </a:xfrm>
        </p:grpSpPr>
        <p:sp>
          <p:nvSpPr>
            <p:cNvPr name="Freeform 4" id="4"/>
            <p:cNvSpPr/>
            <p:nvPr/>
          </p:nvSpPr>
          <p:spPr>
            <a:xfrm flipH="false" flipV="false" rot="0">
              <a:off x="0" y="0"/>
              <a:ext cx="5044830" cy="318862"/>
            </a:xfrm>
            <a:custGeom>
              <a:avLst/>
              <a:gdLst/>
              <a:ahLst/>
              <a:cxnLst/>
              <a:rect r="r" b="b" t="t" l="l"/>
              <a:pathLst>
                <a:path h="318862" w="5044830">
                  <a:moveTo>
                    <a:pt x="0" y="0"/>
                  </a:moveTo>
                  <a:lnTo>
                    <a:pt x="5044830" y="0"/>
                  </a:lnTo>
                  <a:lnTo>
                    <a:pt x="5044830" y="318862"/>
                  </a:lnTo>
                  <a:lnTo>
                    <a:pt x="0" y="318862"/>
                  </a:lnTo>
                  <a:close/>
                </a:path>
              </a:pathLst>
            </a:custGeom>
            <a:solidFill>
              <a:srgbClr val="5A90BF"/>
            </a:solidFill>
          </p:spPr>
        </p:sp>
        <p:sp>
          <p:nvSpPr>
            <p:cNvPr name="TextBox 5" id="5"/>
            <p:cNvSpPr txBox="true"/>
            <p:nvPr/>
          </p:nvSpPr>
          <p:spPr>
            <a:xfrm>
              <a:off x="0" y="-38100"/>
              <a:ext cx="5044830" cy="35696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6509314" y="885825"/>
            <a:ext cx="5269371" cy="904875"/>
          </a:xfrm>
          <a:prstGeom prst="rect">
            <a:avLst/>
          </a:prstGeom>
        </p:spPr>
        <p:txBody>
          <a:bodyPr anchor="t" rtlCol="false" tIns="0" lIns="0" bIns="0" rIns="0">
            <a:spAutoFit/>
          </a:bodyPr>
          <a:lstStyle/>
          <a:p>
            <a:pPr algn="l">
              <a:lnSpc>
                <a:spcPts val="6000"/>
              </a:lnSpc>
            </a:pPr>
            <a:r>
              <a:rPr lang="en-US" sz="5000" b="true">
                <a:solidFill>
                  <a:srgbClr val="000000"/>
                </a:solidFill>
                <a:latin typeface="Cooper Hewitt Bold"/>
                <a:ea typeface="Cooper Hewitt Bold"/>
                <a:cs typeface="Cooper Hewitt Bold"/>
                <a:sym typeface="Cooper Hewitt Bold"/>
              </a:rPr>
              <a:t>RECOMENDATION</a:t>
            </a:r>
          </a:p>
        </p:txBody>
      </p:sp>
      <p:sp>
        <p:nvSpPr>
          <p:cNvPr name="Freeform 7" id="7"/>
          <p:cNvSpPr/>
          <p:nvPr/>
        </p:nvSpPr>
        <p:spPr>
          <a:xfrm flipH="false" flipV="false" rot="0">
            <a:off x="0" y="265573"/>
            <a:ext cx="2468940" cy="763127"/>
          </a:xfrm>
          <a:custGeom>
            <a:avLst/>
            <a:gdLst/>
            <a:ahLst/>
            <a:cxnLst/>
            <a:rect r="r" b="b" t="t" l="l"/>
            <a:pathLst>
              <a:path h="763127" w="2468940">
                <a:moveTo>
                  <a:pt x="0" y="0"/>
                </a:moveTo>
                <a:lnTo>
                  <a:pt x="2468940" y="0"/>
                </a:lnTo>
                <a:lnTo>
                  <a:pt x="2468940" y="763127"/>
                </a:lnTo>
                <a:lnTo>
                  <a:pt x="0" y="7631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5819060" y="8876736"/>
            <a:ext cx="2468940" cy="763127"/>
          </a:xfrm>
          <a:custGeom>
            <a:avLst/>
            <a:gdLst/>
            <a:ahLst/>
            <a:cxnLst/>
            <a:rect r="r" b="b" t="t" l="l"/>
            <a:pathLst>
              <a:path h="763127" w="2468940">
                <a:moveTo>
                  <a:pt x="2468940" y="0"/>
                </a:moveTo>
                <a:lnTo>
                  <a:pt x="0" y="0"/>
                </a:lnTo>
                <a:lnTo>
                  <a:pt x="0" y="763128"/>
                </a:lnTo>
                <a:lnTo>
                  <a:pt x="2468940" y="763128"/>
                </a:lnTo>
                <a:lnTo>
                  <a:pt x="246894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028700" y="2498725"/>
            <a:ext cx="16230600" cy="5241925"/>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Improve the quality of customer service, as this attribute has the lowest score and is the biggest source of negative reviews.</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Optimize core features such as ease of use, tracking, interface, and ticket management, which are most often cited as factors of satisfaction.</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Strengthen user retention programs thru feature education, more structured onboarding, and improved reliability to increase NPS.</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Conduct regular sentiment monitoring to capture changes in user perception and address potential issues more quickly.</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Use word frequency analysis to prioritize product development, ensuring that innovations align with user needs and pain points.</a:t>
            </a:r>
          </a:p>
          <a:p>
            <a:pPr algn="just" marL="539749" indent="-269875" lvl="1">
              <a:lnSpc>
                <a:spcPts val="3499"/>
              </a:lnSpc>
              <a:buFont typeface="Arial"/>
              <a:buChar char="•"/>
            </a:pPr>
            <a:r>
              <a:rPr lang="en-US" sz="2499">
                <a:solidFill>
                  <a:srgbClr val="000000"/>
                </a:solidFill>
                <a:latin typeface="Canva Sans"/>
                <a:ea typeface="Canva Sans"/>
                <a:cs typeface="Canva Sans"/>
                <a:sym typeface="Canva Sans"/>
              </a:rPr>
              <a:t>Evaluate the performance of each ticketing platform to identify the best aspects of products with high positive sentiment and replicate their best practices.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260340" y="9818566"/>
            <a:ext cx="19154589" cy="1210681"/>
            <a:chOff x="0" y="0"/>
            <a:chExt cx="5044830" cy="318862"/>
          </a:xfrm>
        </p:grpSpPr>
        <p:sp>
          <p:nvSpPr>
            <p:cNvPr name="Freeform 4" id="4"/>
            <p:cNvSpPr/>
            <p:nvPr/>
          </p:nvSpPr>
          <p:spPr>
            <a:xfrm flipH="false" flipV="false" rot="0">
              <a:off x="0" y="0"/>
              <a:ext cx="5044830" cy="318862"/>
            </a:xfrm>
            <a:custGeom>
              <a:avLst/>
              <a:gdLst/>
              <a:ahLst/>
              <a:cxnLst/>
              <a:rect r="r" b="b" t="t" l="l"/>
              <a:pathLst>
                <a:path h="318862" w="5044830">
                  <a:moveTo>
                    <a:pt x="0" y="0"/>
                  </a:moveTo>
                  <a:lnTo>
                    <a:pt x="5044830" y="0"/>
                  </a:lnTo>
                  <a:lnTo>
                    <a:pt x="5044830" y="318862"/>
                  </a:lnTo>
                  <a:lnTo>
                    <a:pt x="0" y="318862"/>
                  </a:lnTo>
                  <a:close/>
                </a:path>
              </a:pathLst>
            </a:custGeom>
            <a:solidFill>
              <a:srgbClr val="5A90BF"/>
            </a:solidFill>
          </p:spPr>
        </p:sp>
        <p:sp>
          <p:nvSpPr>
            <p:cNvPr name="TextBox 5" id="5"/>
            <p:cNvSpPr txBox="true"/>
            <p:nvPr/>
          </p:nvSpPr>
          <p:spPr>
            <a:xfrm>
              <a:off x="0" y="-38100"/>
              <a:ext cx="5044830" cy="3569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3055896">
            <a:off x="10667890" y="5104090"/>
            <a:ext cx="1867173" cy="10762758"/>
            <a:chOff x="0" y="0"/>
            <a:chExt cx="491766" cy="2834636"/>
          </a:xfrm>
        </p:grpSpPr>
        <p:sp>
          <p:nvSpPr>
            <p:cNvPr name="Freeform 7" id="7"/>
            <p:cNvSpPr/>
            <p:nvPr/>
          </p:nvSpPr>
          <p:spPr>
            <a:xfrm flipH="false" flipV="false" rot="0">
              <a:off x="0" y="0"/>
              <a:ext cx="491766" cy="2834636"/>
            </a:xfrm>
            <a:custGeom>
              <a:avLst/>
              <a:gdLst/>
              <a:ahLst/>
              <a:cxnLst/>
              <a:rect r="r" b="b" t="t" l="l"/>
              <a:pathLst>
                <a:path h="2834636" w="491766">
                  <a:moveTo>
                    <a:pt x="245883" y="0"/>
                  </a:moveTo>
                  <a:lnTo>
                    <a:pt x="245883" y="0"/>
                  </a:lnTo>
                  <a:cubicBezTo>
                    <a:pt x="381680" y="0"/>
                    <a:pt x="491766" y="110086"/>
                    <a:pt x="491766" y="245883"/>
                  </a:cubicBezTo>
                  <a:lnTo>
                    <a:pt x="491766" y="2588753"/>
                  </a:lnTo>
                  <a:cubicBezTo>
                    <a:pt x="491766" y="2724550"/>
                    <a:pt x="381680" y="2834636"/>
                    <a:pt x="245883" y="2834636"/>
                  </a:cubicBezTo>
                  <a:lnTo>
                    <a:pt x="245883" y="2834636"/>
                  </a:lnTo>
                  <a:cubicBezTo>
                    <a:pt x="110086" y="2834636"/>
                    <a:pt x="0" y="2724550"/>
                    <a:pt x="0" y="2588753"/>
                  </a:cubicBezTo>
                  <a:lnTo>
                    <a:pt x="0" y="245883"/>
                  </a:lnTo>
                  <a:cubicBezTo>
                    <a:pt x="0" y="110086"/>
                    <a:pt x="110086" y="0"/>
                    <a:pt x="245883" y="0"/>
                  </a:cubicBezTo>
                  <a:close/>
                </a:path>
              </a:pathLst>
            </a:custGeom>
            <a:solidFill>
              <a:srgbClr val="91D7F1"/>
            </a:solidFill>
            <a:ln cap="rnd">
              <a:noFill/>
              <a:prstDash val="solid"/>
              <a:round/>
            </a:ln>
          </p:spPr>
        </p:sp>
        <p:sp>
          <p:nvSpPr>
            <p:cNvPr name="TextBox 8" id="8"/>
            <p:cNvSpPr txBox="true"/>
            <p:nvPr/>
          </p:nvSpPr>
          <p:spPr>
            <a:xfrm>
              <a:off x="0" y="-38100"/>
              <a:ext cx="491766" cy="287273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882442">
            <a:off x="14127658" y="2943656"/>
            <a:ext cx="7213299" cy="14686688"/>
            <a:chOff x="0" y="0"/>
            <a:chExt cx="1899799" cy="3868099"/>
          </a:xfrm>
        </p:grpSpPr>
        <p:sp>
          <p:nvSpPr>
            <p:cNvPr name="Freeform 10" id="10"/>
            <p:cNvSpPr/>
            <p:nvPr/>
          </p:nvSpPr>
          <p:spPr>
            <a:xfrm flipH="false" flipV="false" rot="0">
              <a:off x="0" y="0"/>
              <a:ext cx="1899799" cy="3868099"/>
            </a:xfrm>
            <a:custGeom>
              <a:avLst/>
              <a:gdLst/>
              <a:ahLst/>
              <a:cxnLst/>
              <a:rect r="r" b="b" t="t" l="l"/>
              <a:pathLst>
                <a:path h="3868099" w="1899799">
                  <a:moveTo>
                    <a:pt x="0" y="0"/>
                  </a:moveTo>
                  <a:lnTo>
                    <a:pt x="1899799" y="0"/>
                  </a:lnTo>
                  <a:lnTo>
                    <a:pt x="1899799" y="3868099"/>
                  </a:lnTo>
                  <a:lnTo>
                    <a:pt x="0" y="3868099"/>
                  </a:lnTo>
                  <a:close/>
                </a:path>
              </a:pathLst>
            </a:custGeom>
            <a:solidFill>
              <a:srgbClr val="5A90BF"/>
            </a:solidFill>
          </p:spPr>
        </p:sp>
        <p:sp>
          <p:nvSpPr>
            <p:cNvPr name="TextBox 11" id="11"/>
            <p:cNvSpPr txBox="true"/>
            <p:nvPr/>
          </p:nvSpPr>
          <p:spPr>
            <a:xfrm>
              <a:off x="0" y="-38100"/>
              <a:ext cx="1899799" cy="390619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2700000">
            <a:off x="17932000" y="98426"/>
            <a:ext cx="712000" cy="7196626"/>
            <a:chOff x="0" y="0"/>
            <a:chExt cx="187523" cy="1895408"/>
          </a:xfrm>
        </p:grpSpPr>
        <p:sp>
          <p:nvSpPr>
            <p:cNvPr name="Freeform 13" id="13"/>
            <p:cNvSpPr/>
            <p:nvPr/>
          </p:nvSpPr>
          <p:spPr>
            <a:xfrm flipH="false" flipV="false" rot="0">
              <a:off x="0" y="0"/>
              <a:ext cx="187523" cy="1895408"/>
            </a:xfrm>
            <a:custGeom>
              <a:avLst/>
              <a:gdLst/>
              <a:ahLst/>
              <a:cxnLst/>
              <a:rect r="r" b="b" t="t" l="l"/>
              <a:pathLst>
                <a:path h="1895408" w="187523">
                  <a:moveTo>
                    <a:pt x="93761" y="0"/>
                  </a:moveTo>
                  <a:lnTo>
                    <a:pt x="93761" y="0"/>
                  </a:lnTo>
                  <a:cubicBezTo>
                    <a:pt x="145544" y="0"/>
                    <a:pt x="187523" y="41978"/>
                    <a:pt x="187523" y="93761"/>
                  </a:cubicBezTo>
                  <a:lnTo>
                    <a:pt x="187523" y="1801646"/>
                  </a:lnTo>
                  <a:cubicBezTo>
                    <a:pt x="187523" y="1853429"/>
                    <a:pt x="145544" y="1895408"/>
                    <a:pt x="93761" y="1895408"/>
                  </a:cubicBezTo>
                  <a:lnTo>
                    <a:pt x="93761" y="1895408"/>
                  </a:lnTo>
                  <a:cubicBezTo>
                    <a:pt x="41978" y="1895408"/>
                    <a:pt x="0" y="1853429"/>
                    <a:pt x="0" y="1801646"/>
                  </a:cubicBezTo>
                  <a:lnTo>
                    <a:pt x="0" y="93761"/>
                  </a:lnTo>
                  <a:cubicBezTo>
                    <a:pt x="0" y="41978"/>
                    <a:pt x="41978" y="0"/>
                    <a:pt x="93761" y="0"/>
                  </a:cubicBezTo>
                  <a:close/>
                </a:path>
              </a:pathLst>
            </a:custGeom>
            <a:solidFill>
              <a:srgbClr val="91D7F1"/>
            </a:solidFill>
            <a:ln cap="rnd">
              <a:noFill/>
              <a:prstDash val="solid"/>
              <a:round/>
            </a:ln>
          </p:spPr>
        </p:sp>
        <p:sp>
          <p:nvSpPr>
            <p:cNvPr name="TextBox 14" id="14"/>
            <p:cNvSpPr txBox="true"/>
            <p:nvPr/>
          </p:nvSpPr>
          <p:spPr>
            <a:xfrm>
              <a:off x="0" y="-38100"/>
              <a:ext cx="187523" cy="1933508"/>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165749" y="2794831"/>
            <a:ext cx="15559209" cy="3095625"/>
          </a:xfrm>
          <a:prstGeom prst="rect">
            <a:avLst/>
          </a:prstGeom>
        </p:spPr>
        <p:txBody>
          <a:bodyPr anchor="t" rtlCol="false" tIns="0" lIns="0" bIns="0" rIns="0">
            <a:spAutoFit/>
          </a:bodyPr>
          <a:lstStyle/>
          <a:p>
            <a:pPr algn="ctr">
              <a:lnSpc>
                <a:spcPts val="20546"/>
              </a:lnSpc>
            </a:pPr>
            <a:r>
              <a:rPr lang="en-US" b="true" sz="17121">
                <a:solidFill>
                  <a:srgbClr val="000000"/>
                </a:solidFill>
                <a:latin typeface="Cooper Hewitt Bold"/>
                <a:ea typeface="Cooper Hewitt Bold"/>
                <a:cs typeface="Cooper Hewitt Bold"/>
                <a:sym typeface="Cooper Hewitt Bold"/>
              </a:rPr>
              <a:t>THANK YOU</a:t>
            </a:r>
          </a:p>
        </p:txBody>
      </p:sp>
      <p:sp>
        <p:nvSpPr>
          <p:cNvPr name="Freeform 16" id="16"/>
          <p:cNvSpPr/>
          <p:nvPr/>
        </p:nvSpPr>
        <p:spPr>
          <a:xfrm flipH="false" flipV="false" rot="0">
            <a:off x="1028700" y="1962550"/>
            <a:ext cx="2468940" cy="763127"/>
          </a:xfrm>
          <a:custGeom>
            <a:avLst/>
            <a:gdLst/>
            <a:ahLst/>
            <a:cxnLst/>
            <a:rect r="r" b="b" t="t" l="l"/>
            <a:pathLst>
              <a:path h="763127" w="2468940">
                <a:moveTo>
                  <a:pt x="0" y="0"/>
                </a:moveTo>
                <a:lnTo>
                  <a:pt x="2468940" y="0"/>
                </a:lnTo>
                <a:lnTo>
                  <a:pt x="2468940" y="763127"/>
                </a:lnTo>
                <a:lnTo>
                  <a:pt x="0" y="7631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true" flipV="false" rot="0">
            <a:off x="12355868" y="5788922"/>
            <a:ext cx="2468940" cy="763127"/>
          </a:xfrm>
          <a:custGeom>
            <a:avLst/>
            <a:gdLst/>
            <a:ahLst/>
            <a:cxnLst/>
            <a:rect r="r" b="b" t="t" l="l"/>
            <a:pathLst>
              <a:path h="763127" w="2468940">
                <a:moveTo>
                  <a:pt x="2468941" y="0"/>
                </a:moveTo>
                <a:lnTo>
                  <a:pt x="0" y="0"/>
                </a:lnTo>
                <a:lnTo>
                  <a:pt x="0" y="763127"/>
                </a:lnTo>
                <a:lnTo>
                  <a:pt x="2468941" y="763127"/>
                </a:lnTo>
                <a:lnTo>
                  <a:pt x="2468941"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8" id="18"/>
          <p:cNvGrpSpPr/>
          <p:nvPr/>
        </p:nvGrpSpPr>
        <p:grpSpPr>
          <a:xfrm rot="0">
            <a:off x="1761415" y="5894155"/>
            <a:ext cx="6159449" cy="715044"/>
            <a:chOff x="0" y="0"/>
            <a:chExt cx="1557553" cy="180815"/>
          </a:xfrm>
        </p:grpSpPr>
        <p:sp>
          <p:nvSpPr>
            <p:cNvPr name="Freeform 19" id="19"/>
            <p:cNvSpPr/>
            <p:nvPr/>
          </p:nvSpPr>
          <p:spPr>
            <a:xfrm flipH="false" flipV="false" rot="0">
              <a:off x="0" y="0"/>
              <a:ext cx="1557553" cy="180815"/>
            </a:xfrm>
            <a:custGeom>
              <a:avLst/>
              <a:gdLst/>
              <a:ahLst/>
              <a:cxnLst/>
              <a:rect r="r" b="b" t="t" l="l"/>
              <a:pathLst>
                <a:path h="180815" w="1557553">
                  <a:moveTo>
                    <a:pt x="90407" y="0"/>
                  </a:moveTo>
                  <a:lnTo>
                    <a:pt x="1467145" y="0"/>
                  </a:lnTo>
                  <a:cubicBezTo>
                    <a:pt x="1491123" y="0"/>
                    <a:pt x="1514118" y="9525"/>
                    <a:pt x="1531073" y="26480"/>
                  </a:cubicBezTo>
                  <a:cubicBezTo>
                    <a:pt x="1548028" y="43434"/>
                    <a:pt x="1557553" y="66430"/>
                    <a:pt x="1557553" y="90407"/>
                  </a:cubicBezTo>
                  <a:lnTo>
                    <a:pt x="1557553" y="90407"/>
                  </a:lnTo>
                  <a:cubicBezTo>
                    <a:pt x="1557553" y="140338"/>
                    <a:pt x="1517076" y="180815"/>
                    <a:pt x="1467145" y="180815"/>
                  </a:cubicBezTo>
                  <a:lnTo>
                    <a:pt x="90407" y="180815"/>
                  </a:lnTo>
                  <a:cubicBezTo>
                    <a:pt x="40477" y="180815"/>
                    <a:pt x="0" y="140338"/>
                    <a:pt x="0" y="90407"/>
                  </a:cubicBezTo>
                  <a:lnTo>
                    <a:pt x="0" y="90407"/>
                  </a:lnTo>
                  <a:cubicBezTo>
                    <a:pt x="0" y="40477"/>
                    <a:pt x="40477" y="0"/>
                    <a:pt x="90407" y="0"/>
                  </a:cubicBezTo>
                  <a:close/>
                </a:path>
              </a:pathLst>
            </a:custGeom>
            <a:solidFill>
              <a:srgbClr val="91D7F1"/>
            </a:solidFill>
          </p:spPr>
        </p:sp>
        <p:sp>
          <p:nvSpPr>
            <p:cNvPr name="TextBox 20" id="20"/>
            <p:cNvSpPr txBox="true"/>
            <p:nvPr/>
          </p:nvSpPr>
          <p:spPr>
            <a:xfrm>
              <a:off x="0" y="-38100"/>
              <a:ext cx="1557553" cy="218915"/>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2291044" y="5997677"/>
            <a:ext cx="5100191" cy="441325"/>
          </a:xfrm>
          <a:prstGeom prst="rect">
            <a:avLst/>
          </a:prstGeom>
        </p:spPr>
        <p:txBody>
          <a:bodyPr anchor="t" rtlCol="false" tIns="0" lIns="0" bIns="0" rIns="0">
            <a:spAutoFit/>
          </a:bodyPr>
          <a:lstStyle/>
          <a:p>
            <a:pPr algn="ctr">
              <a:lnSpc>
                <a:spcPts val="3499"/>
              </a:lnSpc>
            </a:pPr>
            <a:r>
              <a:rPr lang="en-US" sz="2499">
                <a:solidFill>
                  <a:srgbClr val="000000"/>
                </a:solidFill>
                <a:latin typeface="Poppins"/>
                <a:ea typeface="Poppins"/>
                <a:cs typeface="Poppins"/>
                <a:sym typeface="Poppins"/>
              </a:rPr>
              <a:t>Acces: Google </a:t>
            </a:r>
            <a:r>
              <a:rPr lang="en-US" sz="2499" u="sng">
                <a:solidFill>
                  <a:srgbClr val="000000"/>
                </a:solidFill>
                <a:latin typeface="Poppins"/>
                <a:ea typeface="Poppins"/>
                <a:cs typeface="Poppins"/>
                <a:sym typeface="Poppins"/>
                <a:hlinkClick r:id="rId5" tooltip="https://colab.research.google.com/drive/1lzdvF56X_HsASof26739RkiRc9ooqITN?usp=sharing"/>
              </a:rPr>
              <a:t>Collab</a:t>
            </a:r>
            <a:r>
              <a:rPr lang="en-US" sz="2499">
                <a:solidFill>
                  <a:srgbClr val="000000"/>
                </a:solidFill>
                <a:latin typeface="Poppins"/>
                <a:ea typeface="Poppins"/>
                <a:cs typeface="Poppins"/>
                <a:sym typeface="Poppins"/>
              </a:rPr>
              <a:t> &amp; </a:t>
            </a:r>
            <a:r>
              <a:rPr lang="en-US" sz="2499" u="sng">
                <a:solidFill>
                  <a:srgbClr val="000000"/>
                </a:solidFill>
                <a:latin typeface="Poppins"/>
                <a:ea typeface="Poppins"/>
                <a:cs typeface="Poppins"/>
                <a:sym typeface="Poppins"/>
                <a:hlinkClick r:id="rId6" tooltip="https://drive.google.com/file/d/1rURvni0TsKArcEWQa6sLzbjyxyVf7yiH/view?usp=sharing"/>
              </a:rPr>
              <a:t>Power B</a:t>
            </a:r>
            <a:r>
              <a:rPr lang="en-US" sz="2499">
                <a:solidFill>
                  <a:srgbClr val="000000"/>
                </a:solidFill>
                <a:latin typeface="Poppins"/>
                <a:ea typeface="Poppins"/>
                <a:cs typeface="Poppins"/>
                <a:sym typeface="Poppins"/>
              </a:rPr>
              <a:t>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DAG6lwBOvBs</dc:identifier>
  <dcterms:modified xsi:type="dcterms:W3CDTF">2011-08-01T06:04:30Z</dcterms:modified>
  <cp:revision>1</cp:revision>
  <dc:title>Customer Satisfaction &amp; Sentiment Analysis</dc:title>
</cp:coreProperties>
</file>